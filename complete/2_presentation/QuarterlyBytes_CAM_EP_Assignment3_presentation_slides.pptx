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y="5143500" cx="9144000"/>
  <p:notesSz cx="6858000" cy="9144000"/>
  <p:embeddedFontLst>
    <p:embeddedFont>
      <p:font typeface="Raleway"/>
      <p:regular r:id="rId56"/>
      <p:bold r:id="rId57"/>
      <p:italic r:id="rId58"/>
      <p:boldItalic r:id="rId59"/>
    </p:embeddedFont>
    <p:embeddedFont>
      <p:font typeface="Lato"/>
      <p:regular r:id="rId60"/>
      <p:bold r:id="rId61"/>
      <p:italic r:id="rId62"/>
      <p:boldItalic r:id="rId63"/>
    </p:embeddedFont>
    <p:embeddedFont>
      <p:font typeface="Roboto Mono"/>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Lato-italic.fntdata"/><Relationship Id="rId61" Type="http://schemas.openxmlformats.org/officeDocument/2006/relationships/font" Target="fonts/Lato-bold.fntdata"/><Relationship Id="rId20" Type="http://schemas.openxmlformats.org/officeDocument/2006/relationships/slide" Target="slides/slide15.xml"/><Relationship Id="rId64" Type="http://schemas.openxmlformats.org/officeDocument/2006/relationships/font" Target="fonts/RobotoMono-regular.fntdata"/><Relationship Id="rId63" Type="http://schemas.openxmlformats.org/officeDocument/2006/relationships/font" Target="fonts/Lato-boldItalic.fntdata"/><Relationship Id="rId22" Type="http://schemas.openxmlformats.org/officeDocument/2006/relationships/slide" Target="slides/slide17.xml"/><Relationship Id="rId66" Type="http://schemas.openxmlformats.org/officeDocument/2006/relationships/font" Target="fonts/RobotoMono-italic.fntdata"/><Relationship Id="rId21" Type="http://schemas.openxmlformats.org/officeDocument/2006/relationships/slide" Target="slides/slide16.xml"/><Relationship Id="rId65" Type="http://schemas.openxmlformats.org/officeDocument/2006/relationships/font" Target="fonts/RobotoMono-bold.fntdata"/><Relationship Id="rId24" Type="http://schemas.openxmlformats.org/officeDocument/2006/relationships/slide" Target="slides/slide19.xml"/><Relationship Id="rId23" Type="http://schemas.openxmlformats.org/officeDocument/2006/relationships/slide" Target="slides/slide18.xml"/><Relationship Id="rId67" Type="http://schemas.openxmlformats.org/officeDocument/2006/relationships/font" Target="fonts/RobotoMono-boldItalic.fntdata"/><Relationship Id="rId60" Type="http://schemas.openxmlformats.org/officeDocument/2006/relationships/font" Target="fonts/Lato-regular.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Raleway-bold.fntdata"/><Relationship Id="rId12" Type="http://schemas.openxmlformats.org/officeDocument/2006/relationships/slide" Target="slides/slide7.xml"/><Relationship Id="rId56" Type="http://schemas.openxmlformats.org/officeDocument/2006/relationships/font" Target="fonts/Raleway-regular.fntdata"/><Relationship Id="rId15" Type="http://schemas.openxmlformats.org/officeDocument/2006/relationships/slide" Target="slides/slide10.xml"/><Relationship Id="rId59" Type="http://schemas.openxmlformats.org/officeDocument/2006/relationships/font" Target="fonts/Raleway-boldItalic.fntdata"/><Relationship Id="rId14" Type="http://schemas.openxmlformats.org/officeDocument/2006/relationships/slide" Target="slides/slide9.xml"/><Relationship Id="rId58" Type="http://schemas.openxmlformats.org/officeDocument/2006/relationships/font" Target="fonts/Raleway-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6af39fdc42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6af39fdc42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6b124f5cc3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6b124f5cc3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6b124f5cc3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6b124f5cc3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GB">
                <a:solidFill>
                  <a:schemeClr val="dk1"/>
                </a:solidFill>
              </a:rPr>
              <a:t>Information Overload:</a:t>
            </a:r>
            <a:r>
              <a:rPr lang="en-GB">
                <a:solidFill>
                  <a:schemeClr val="dk1"/>
                </a:solidFill>
              </a:rPr>
              <a:t> Regulated financial institutions release a vast volume of public disclosures, including earnings call transcripts. Manually reviewing every single transcript across numerous entities and over extended periods is incredibly time-consuming and resource-intensive.</a:t>
            </a:r>
            <a:endParaRPr>
              <a:solidFill>
                <a:schemeClr val="dk1"/>
              </a:solidFill>
            </a:endParaRPr>
          </a:p>
          <a:p>
            <a:pPr indent="0" lvl="0" marL="0" rtl="0" algn="l">
              <a:lnSpc>
                <a:spcPct val="115000"/>
              </a:lnSpc>
              <a:spcBef>
                <a:spcPts val="1200"/>
              </a:spcBef>
              <a:spcAft>
                <a:spcPts val="0"/>
              </a:spcAft>
              <a:buNone/>
            </a:pPr>
            <a:r>
              <a:rPr b="1" lang="en-GB">
                <a:solidFill>
                  <a:schemeClr val="dk1"/>
                </a:solidFill>
              </a:rPr>
              <a:t>Unstructured Data Complexity:</a:t>
            </a:r>
            <a:r>
              <a:rPr lang="en-GB">
                <a:solidFill>
                  <a:schemeClr val="dk1"/>
                </a:solidFill>
              </a:rPr>
              <a:t> Earnings call transcripts are unstructured text. Extracting specific, actionable insights from free-form discussions, especially identifying subtle cues, veiled warnings, or nuanced shifts in management tone, is a highly complex task that goes beyond simple keyword searches.</a:t>
            </a:r>
            <a:endParaRPr>
              <a:solidFill>
                <a:schemeClr val="dk1"/>
              </a:solidFill>
            </a:endParaRPr>
          </a:p>
          <a:p>
            <a:pPr indent="0" lvl="0" marL="0" rtl="0" algn="l">
              <a:lnSpc>
                <a:spcPct val="115000"/>
              </a:lnSpc>
              <a:spcBef>
                <a:spcPts val="1200"/>
              </a:spcBef>
              <a:spcAft>
                <a:spcPts val="0"/>
              </a:spcAft>
              <a:buNone/>
            </a:pPr>
            <a:r>
              <a:rPr b="1" lang="en-GB">
                <a:solidFill>
                  <a:schemeClr val="dk1"/>
                </a:solidFill>
              </a:rPr>
              <a:t>Identifying Nuance and Subtlety:</a:t>
            </a:r>
            <a:r>
              <a:rPr lang="en-GB">
                <a:solidFill>
                  <a:schemeClr val="dk1"/>
                </a:solidFill>
              </a:rPr>
              <a:t> Financial communication can be inherently complex, at times intentionally vague or strategic. Identifying "hidden risks," instances of managerial hedging, or discrepancies between management's answers and analyst's concerns requires deep contextual understanding and significant analytical effort.</a:t>
            </a:r>
            <a:endParaRPr>
              <a:solidFill>
                <a:schemeClr val="dk1"/>
              </a:solidFill>
            </a:endParaRPr>
          </a:p>
          <a:p>
            <a:pPr indent="0" lvl="0" marL="0" rtl="0" algn="l">
              <a:lnSpc>
                <a:spcPct val="115000"/>
              </a:lnSpc>
              <a:spcBef>
                <a:spcPts val="1200"/>
              </a:spcBef>
              <a:spcAft>
                <a:spcPts val="0"/>
              </a:spcAft>
              <a:buNone/>
            </a:pPr>
            <a:r>
              <a:rPr b="1" lang="en-GB">
                <a:solidFill>
                  <a:schemeClr val="dk1"/>
                </a:solidFill>
              </a:rPr>
              <a:t>Timeliness and Proactivity:</a:t>
            </a:r>
            <a:r>
              <a:rPr lang="en-GB">
                <a:solidFill>
                  <a:schemeClr val="dk1"/>
                </a:solidFill>
              </a:rPr>
              <a:t> To be effective, supervision needs to be proactive. Manually sifting through new transcripts to identify emerging risks quickly is a significant logistical hurdle.</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b="1" lang="en-GB">
                <a:solidFill>
                  <a:schemeClr val="dk1"/>
                </a:solidFill>
              </a:rPr>
              <a:t>Consistency:</a:t>
            </a:r>
            <a:r>
              <a:rPr lang="en-GB">
                <a:solidFill>
                  <a:schemeClr val="dk1"/>
                </a:solidFill>
              </a:rPr>
              <a:t> Ensuring a consistent level of scrutiny and analysis across all reviewed documents and by different analysts can be challenging without standardized, automated tools.</a:t>
            </a:r>
            <a:endParaRPr sz="1300">
              <a:solidFill>
                <a:srgbClr val="595959"/>
              </a:solidFill>
              <a:latin typeface="Lato"/>
              <a:ea typeface="Lato"/>
              <a:cs typeface="Lato"/>
              <a:sym typeface="La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6af39fdc42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6af39fdc42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6af39fdc42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6af39fdc42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6b124f5cc3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6b124f5cc3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6b124f5cc3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6b124f5cc3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6af39fdc42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6af39fdc42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6b6d0d999b_7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6b6d0d999b_7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6af39fdc42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6af39fdc42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6b6d0d999b_7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6b6d0d999b_7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6b6d0d999b_7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6b6d0d999b_7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6b6d0d999b_7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6b6d0d999b_7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6b6d0d999b_7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6b6d0d999b_7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6af39fdc42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6af39fdc42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6af39fdc42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6af39fdc42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6b6d0d999b_5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6b6d0d999b_5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6b6d0d999b_5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6b6d0d999b_5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By "feeds high-signal cases into the model," I mean the pipeline selectively processes only Q&amp;A pairs where a meaningful sentiment divergence exists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6b6d0d999b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6b6d0d999b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6b6d0d999b_5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6b6d0d999b_5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6b6d0d999b_5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6b6d0d999b_5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6af39fdc42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6af39fdc42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62aaf8bf1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62aaf8bf1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We benchmarked multiple extractive and abstractive models, including open-source LLMs, each tuned with explicit parameters for concise and risk-sensitive summaries. This ensures transparency and reproducibility for regulatory review or future audits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62aaf8bf1b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62aaf8bf1b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LLMs reduce information overload and enable executives to focus on the big picture, without wading through pages of transcript</a:t>
            </a:r>
            <a:endParaRPr/>
          </a:p>
          <a:p>
            <a:pPr indent="0" lvl="0" marL="0" rtl="0" algn="l">
              <a:spcBef>
                <a:spcPts val="0"/>
              </a:spcBef>
              <a:spcAft>
                <a:spcPts val="0"/>
              </a:spcAft>
              <a:buNone/>
            </a:pPr>
            <a:r>
              <a:rPr lang="en-GB"/>
              <a:t>While we tested Mistral alongside BART and PEGASUS, its results aren’t included in this plot, since we did not have the human-written gold standards required for a fair quantitative evaluation.</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62aaf8bf1b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62aaf8bf1b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Our approach surfaces both explicit and subtle risks—even those buried in cautious or non-committal language that traditional models or manual review might overlook</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62aaf8bf1b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62aaf8bf1b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“We directly compared BART and PEGASUS, two top LLM summarization models, using ROUGE-1 recall and sentence coverage as our evaluation metrics.”</a:t>
            </a:r>
            <a:br>
              <a:rPr lang="en-GB"/>
            </a:br>
            <a:endParaRPr/>
          </a:p>
          <a:p>
            <a:pPr indent="0" lvl="0" marL="0" rtl="0" algn="l">
              <a:spcBef>
                <a:spcPts val="0"/>
              </a:spcBef>
              <a:spcAft>
                <a:spcPts val="0"/>
              </a:spcAft>
              <a:buClr>
                <a:schemeClr val="dk1"/>
              </a:buClr>
              <a:buSzPts val="1100"/>
              <a:buFont typeface="Arial"/>
              <a:buNone/>
            </a:pPr>
            <a:r>
              <a:rPr lang="en-GB"/>
              <a:t>“The ROUGE-1 recall plot shows PEGASUS typically achieves higher recall, capturing more of the main content, while BART’s performance is also robust across quarters.”</a:t>
            </a:r>
            <a:br>
              <a:rPr lang="en-GB"/>
            </a:br>
            <a:endParaRPr/>
          </a:p>
          <a:p>
            <a:pPr indent="0" lvl="0" marL="0" rtl="0" algn="l">
              <a:spcBef>
                <a:spcPts val="0"/>
              </a:spcBef>
              <a:spcAft>
                <a:spcPts val="0"/>
              </a:spcAft>
              <a:buClr>
                <a:schemeClr val="dk1"/>
              </a:buClr>
              <a:buSzPts val="1100"/>
              <a:buFont typeface="Arial"/>
              <a:buNone/>
            </a:pPr>
            <a:r>
              <a:rPr lang="en-GB"/>
              <a:t>“Looking at sentence coverage, BART tends to include a broader range of discussion points from the original text, whereas PEGASUS is often more concise and focused.”</a:t>
            </a:r>
            <a:br>
              <a:rPr lang="en-GB"/>
            </a:br>
            <a:endParaRPr/>
          </a:p>
          <a:p>
            <a:pPr indent="0" lvl="0" marL="0" rtl="0" algn="l">
              <a:spcBef>
                <a:spcPts val="0"/>
              </a:spcBef>
              <a:spcAft>
                <a:spcPts val="0"/>
              </a:spcAft>
              <a:buClr>
                <a:schemeClr val="dk1"/>
              </a:buClr>
              <a:buSzPts val="1100"/>
              <a:buFont typeface="Arial"/>
              <a:buNone/>
            </a:pPr>
            <a:r>
              <a:rPr lang="en-GB"/>
              <a:t>“There is a clear trade-off: PEGASUS excels at distilling the main message, but BART provides greater coverage for context-heavy material.”</a:t>
            </a:r>
            <a:br>
              <a:rPr lang="en-GB"/>
            </a:br>
            <a:endParaRPr/>
          </a:p>
          <a:p>
            <a:pPr indent="0" lvl="0" marL="0" rtl="0" algn="l">
              <a:spcBef>
                <a:spcPts val="0"/>
              </a:spcBef>
              <a:spcAft>
                <a:spcPts val="0"/>
              </a:spcAft>
              <a:buClr>
                <a:schemeClr val="dk1"/>
              </a:buClr>
              <a:buSzPts val="1100"/>
              <a:buFont typeface="Arial"/>
              <a:buNone/>
            </a:pPr>
            <a:r>
              <a:rPr lang="en-GB"/>
              <a:t>“Importantly, both models can occasionally hallucinate or miss subtle but critical risk cues, so ongoing human validation and prompt refinement are necessary before deployment in sensitive, compliance-focused settings.”</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62aaf8bf1b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62aaf8bf1b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This real example shows BART summarized the numbers, but omitted nuance around credit reserve builds—a classic risk flag for analysts. Such omissions reinforce the need for human review in regulated or risk-sensitive workflows</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62aaf8bf1b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62aaf8bf1b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GB" sz="1000">
                <a:solidFill>
                  <a:srgbClr val="595959"/>
                </a:solidFill>
                <a:latin typeface="Lato"/>
                <a:ea typeface="Lato"/>
                <a:cs typeface="Lato"/>
                <a:sym typeface="Lato"/>
              </a:rPr>
              <a:t>To further strengthen this workflow, we recommend regularly validating LLM summaries with human review, with particular attention to quantitative accuracy and the faithful representation of risk. Developing a set of gold-standard, human-written summaries will enable more robust evaluation and benchmarking of all models, including Mistral. As new language patterns and risks emerge, continuous prompt refinement and periodic retraining should be pursued. Finally, automated checks for missing key numbers or risk phrases can be implemented to improve quality control before summaries reach decision-makers.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6af39fdc42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6af39fdc42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6af39fdc42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6af39fdc42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6b124f5cc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6b124f5cc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6b124f5cc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6b124f5cc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6b124f5cc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6b124f5cc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6b124f5cc3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6b124f5cc3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6b124f5cc3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6b124f5cc3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dk1"/>
                </a:solidFill>
              </a:rPr>
              <a:t>Using an LLM Fine-tuned on Financial Text: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Benefit:</a:t>
            </a:r>
            <a:r>
              <a:rPr lang="en-GB">
                <a:solidFill>
                  <a:schemeClr val="dk1"/>
                </a:solidFill>
              </a:rPr>
              <a:t> A model pre-trained or fine-tuned on a vast corpus of financial documents (earnings reports, analyst calls, regulatory filings, news) would inherently understand financial jargon, specific market dynamics, and common reporting practices far better than a general-purpose LLM like </a:t>
            </a:r>
            <a:r>
              <a:rPr lang="en-GB">
                <a:solidFill>
                  <a:srgbClr val="188038"/>
                </a:solidFill>
                <a:latin typeface="Roboto Mono"/>
                <a:ea typeface="Roboto Mono"/>
                <a:cs typeface="Roboto Mono"/>
                <a:sym typeface="Roboto Mono"/>
              </a:rPr>
              <a:t>phi-4</a:t>
            </a:r>
            <a:r>
              <a:rPr lang="en-GB">
                <a:solidFill>
                  <a:schemeClr val="dk1"/>
                </a:solidFill>
              </a:rPr>
              <a:t> out-of-the-box. This would lead to more precise identification of concerns and more contextually accurate follow-up questions.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Impact:</a:t>
            </a:r>
            <a:r>
              <a:rPr lang="en-GB">
                <a:solidFill>
                  <a:schemeClr val="dk1"/>
                </a:solidFill>
              </a:rPr>
              <a:t> Reduces hallucination, improves understanding of complex financial relationships, and better interprets subtle cues common in financial discourse.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Incorporating a Glossary of Financial Terms with RAG (Retrieval Augmented Generation):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Benefit:</a:t>
            </a:r>
            <a:r>
              <a:rPr lang="en-GB">
                <a:solidFill>
                  <a:schemeClr val="dk1"/>
                </a:solidFill>
              </a:rPr>
              <a:t> This is a very powerful addition. RAG would allow the LLM to access an external, authoritative knowledge base (your financial glossary) </a:t>
            </a:r>
            <a:r>
              <a:rPr i="1" lang="en-GB">
                <a:solidFill>
                  <a:schemeClr val="dk1"/>
                </a:solidFill>
              </a:rPr>
              <a:t>at inference time</a:t>
            </a:r>
            <a:r>
              <a:rPr lang="en-GB">
                <a:solidFill>
                  <a:schemeClr val="dk1"/>
                </a:solidFill>
              </a:rPr>
              <a:t>. If the LLM encounters a specific term or concept, it can retrieve its definition or related information from the glossary, ensuring factual accuracy and a deeper understanding of the context.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Impact:</a:t>
            </a:r>
            <a:r>
              <a:rPr lang="en-GB">
                <a:solidFill>
                  <a:schemeClr val="dk1"/>
                </a:solidFill>
              </a:rPr>
              <a:t> Ensures consistent interpretation of technical terms, prevents misunderstandings of niche financial concepts, and grounds the LLM's responses in verified information, which is critical for a regulatory body like the PRA. It helps overcome the "black box" nature of LLMs by providing transparent, retrievable context.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Potentially also taking the Presentation itself as Additional Information: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Benefit:</a:t>
            </a:r>
            <a:r>
              <a:rPr lang="en-GB">
                <a:solidFill>
                  <a:schemeClr val="dk1"/>
                </a:solidFill>
              </a:rPr>
              <a:t> Earnings call transcripts are often accompanied by a presentation slide deck. This slide deck contains key figures, charts, and often condensed summaries or forward-looking statements that are visually highlighted. Providing this to the LLM as additional context (e.g., as part of the prompt or via RAG if the content is extractable) could significantly enrich its understanding.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Impact:</a:t>
            </a:r>
            <a:r>
              <a:rPr lang="en-GB">
                <a:solidFill>
                  <a:schemeClr val="dk1"/>
                </a:solidFill>
              </a:rPr>
              <a:t> Helps the LLM connect spoken commentary with presented financial data, understand management's emphasis, and identify potential discrepancies or areas where the spoken word deviates from the presented visual. It provides a more holistic view of the communication.</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6af39fdc42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6af39fdc42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6af39fdc42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6af39fdc42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6af39fdc42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6af39fdc42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Building on our discussion of Goldman Sachs' strategic shifts, one significant internal move reinforces their commitment to stability: </a:t>
            </a:r>
            <a:r>
              <a:rPr b="1" lang="en-GB">
                <a:solidFill>
                  <a:schemeClr val="dk1"/>
                </a:solidFill>
              </a:rPr>
              <a:t>Carey Halio's promotion to Global Treasurer.</a:t>
            </a:r>
            <a:r>
              <a:rPr lang="en-GB">
                <a:solidFill>
                  <a:schemeClr val="dk1"/>
                </a:solidFill>
              </a:rPr>
              <a:t> This isn't just an executive reshuffle; it signals Goldman Sachs' </a:t>
            </a:r>
            <a:r>
              <a:rPr b="1" lang="en-GB">
                <a:solidFill>
                  <a:schemeClr val="dk1"/>
                </a:solidFill>
              </a:rPr>
              <a:t>heightened strategic focus on financial resilience, disciplined capital management, and ensuring stable funding.</a:t>
            </a:r>
            <a:r>
              <a:rPr lang="en-GB">
                <a:solidFill>
                  <a:schemeClr val="dk1"/>
                </a:solidFill>
              </a:rPr>
              <a:t> In a volatile market, putting a seasoned leader with a deep background in risk and balance sheet management into this critical role directly supports their overarching goal of pivoting towards more consistent, recurring revenue streams, especially within their Asset &amp; Wealth Management and Platform Solutions businesses.</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6af39fdc42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6af39fdc42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6af39fdc42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6af39fdc42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6af39fdc42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6af39fdc42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6af39fdc42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6af39fdc42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In Q1 2022, </a:t>
            </a:r>
            <a:r>
              <a:rPr b="1" lang="en-GB">
                <a:solidFill>
                  <a:schemeClr val="dk1"/>
                </a:solidFill>
              </a:rPr>
              <a:t>JPMorgan</a:t>
            </a:r>
            <a:r>
              <a:rPr lang="en-GB">
                <a:solidFill>
                  <a:schemeClr val="dk1"/>
                </a:solidFill>
              </a:rPr>
              <a:t> flagged AOCI (Accumulated Other Comprehensive Income) as a key concern—primarily because sharp mark-to-market losses on its available-for-sale securities weighed heavily on its CET1 capital ratio, a critical regulatory cushion.  Because of unrealized bond losses which eroded its CET1 ratio—a factor that influenced its flexibility on capital returns, regulatory compliance, and future growth strategy.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In Q2 2022, </a:t>
            </a:r>
            <a:r>
              <a:rPr b="1" lang="en-GB">
                <a:solidFill>
                  <a:schemeClr val="dk1"/>
                </a:solidFill>
              </a:rPr>
              <a:t>JPMorgan</a:t>
            </a:r>
            <a:r>
              <a:rPr lang="en-GB">
                <a:solidFill>
                  <a:schemeClr val="dk1"/>
                </a:solidFill>
              </a:rPr>
              <a:t> experienced high inflation, geopolitical uncertainty (esp. Russia‑Ukraine), and quantitative tightening as pressuring the macro outlook, slower loan growth &amp; weaker investment-bank fees. As a direct result, </a:t>
            </a:r>
            <a:r>
              <a:rPr b="1" lang="en-GB">
                <a:solidFill>
                  <a:schemeClr val="dk1"/>
                </a:solidFill>
              </a:rPr>
              <a:t>JPMorgan </a:t>
            </a:r>
            <a:r>
              <a:rPr lang="en-GB">
                <a:solidFill>
                  <a:schemeClr val="dk1"/>
                </a:solidFill>
              </a:rPr>
              <a:t>paused its share buybacks to strengthen capital buffers in light of these headwinds which is reflected in the topic that took place of AOCI.</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In Q2 2024, </a:t>
            </a:r>
            <a:r>
              <a:rPr b="1" lang="en-GB">
                <a:solidFill>
                  <a:schemeClr val="dk1"/>
                </a:solidFill>
              </a:rPr>
              <a:t>JPMorgan </a:t>
            </a:r>
            <a:r>
              <a:rPr lang="en-GB">
                <a:solidFill>
                  <a:schemeClr val="dk1"/>
                </a:solidFill>
              </a:rPr>
              <a:t>observe </a:t>
            </a:r>
            <a:r>
              <a:rPr lang="en-GB" u="sng">
                <a:solidFill>
                  <a:schemeClr val="dk1"/>
                </a:solidFill>
              </a:rPr>
              <a:t>growth </a:t>
            </a:r>
            <a:r>
              <a:rPr lang="en-GB">
                <a:solidFill>
                  <a:schemeClr val="dk1"/>
                </a:solidFill>
              </a:rPr>
              <a:t>in revenue and profit and focus on the </a:t>
            </a:r>
            <a:r>
              <a:rPr lang="en-GB" u="sng">
                <a:solidFill>
                  <a:schemeClr val="dk1"/>
                </a:solidFill>
              </a:rPr>
              <a:t>strategy </a:t>
            </a:r>
            <a:r>
              <a:rPr lang="en-GB">
                <a:solidFill>
                  <a:schemeClr val="dk1"/>
                </a:solidFill>
              </a:rPr>
              <a:t>to tackle geopolitical tensions, persistent inflation, and rising interest rates remain risks despite current strength</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In Q3 2024, </a:t>
            </a:r>
            <a:r>
              <a:rPr lang="en-GB" u="sng">
                <a:solidFill>
                  <a:schemeClr val="dk1"/>
                </a:solidFill>
              </a:rPr>
              <a:t>Incomes </a:t>
            </a:r>
            <a:r>
              <a:rPr lang="en-GB">
                <a:solidFill>
                  <a:schemeClr val="dk1"/>
                </a:solidFill>
              </a:rPr>
              <a:t>of </a:t>
            </a:r>
            <a:r>
              <a:rPr b="1" lang="en-GB">
                <a:solidFill>
                  <a:schemeClr val="dk1"/>
                </a:solidFill>
              </a:rPr>
              <a:t>JPMorgan</a:t>
            </a:r>
            <a:r>
              <a:rPr lang="en-GB">
                <a:solidFill>
                  <a:schemeClr val="dk1"/>
                </a:solidFill>
              </a:rPr>
              <a:t> beat expectations due to significant contribution from net </a:t>
            </a:r>
            <a:r>
              <a:rPr lang="en-GB" u="sng">
                <a:solidFill>
                  <a:schemeClr val="dk1"/>
                </a:solidFill>
              </a:rPr>
              <a:t>interest income </a:t>
            </a:r>
            <a:r>
              <a:rPr lang="en-GB">
                <a:solidFill>
                  <a:schemeClr val="dk1"/>
                </a:solidFill>
              </a:rPr>
              <a:t>(NII), record investment banking fees and strong trading returns.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During Q4 2024, </a:t>
            </a:r>
            <a:r>
              <a:rPr b="1" lang="en-GB">
                <a:solidFill>
                  <a:schemeClr val="dk1"/>
                </a:solidFill>
              </a:rPr>
              <a:t>JPMorgan’s </a:t>
            </a:r>
            <a:r>
              <a:rPr lang="en-GB">
                <a:solidFill>
                  <a:schemeClr val="dk1"/>
                </a:solidFill>
              </a:rPr>
              <a:t>primary focus was on the </a:t>
            </a:r>
            <a:r>
              <a:rPr lang="en-GB" u="sng">
                <a:solidFill>
                  <a:schemeClr val="dk1"/>
                </a:solidFill>
              </a:rPr>
              <a:t>growth </a:t>
            </a:r>
            <a:r>
              <a:rPr lang="en-GB">
                <a:solidFill>
                  <a:schemeClr val="dk1"/>
                </a:solidFill>
              </a:rPr>
              <a:t>in investment banking and trading, paired with strong profitability, strategic </a:t>
            </a:r>
            <a:r>
              <a:rPr lang="en-GB" u="sng">
                <a:solidFill>
                  <a:schemeClr val="dk1"/>
                </a:solidFill>
              </a:rPr>
              <a:t>capital </a:t>
            </a:r>
            <a:r>
              <a:rPr lang="en-GB">
                <a:solidFill>
                  <a:schemeClr val="dk1"/>
                </a:solidFill>
              </a:rPr>
              <a:t>deployment, and cautious </a:t>
            </a:r>
            <a:r>
              <a:rPr lang="en-GB" u="sng">
                <a:solidFill>
                  <a:schemeClr val="dk1"/>
                </a:solidFill>
              </a:rPr>
              <a:t>strategy </a:t>
            </a:r>
            <a:r>
              <a:rPr lang="en-GB">
                <a:solidFill>
                  <a:schemeClr val="dk1"/>
                </a:solidFill>
              </a:rPr>
              <a:t>on macroeconomic commentary.</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6af39fdc42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6af39fdc42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6af39fdc42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36af39fdc42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6af39fdc42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6af39fdc42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6af39fdc42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36af39fdc42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6af39fdc42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6af39fdc42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6af39fdc42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6af39fdc42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6af39fdc42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36af39fdc42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EErlando/Quarterly-Bytes" TargetMode="External"/><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12.png"/><Relationship Id="rId6"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image" Target="../media/image10.png"/><Relationship Id="rId6"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1.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8.png"/><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4.png"/><Relationship Id="rId4"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GB" sz="3000">
                <a:solidFill>
                  <a:srgbClr val="1A1A1A"/>
                </a:solidFill>
                <a:latin typeface="Raleway"/>
                <a:ea typeface="Raleway"/>
                <a:cs typeface="Raleway"/>
                <a:sym typeface="Raleway"/>
              </a:rPr>
              <a:t>Data Science Career Accelerator </a:t>
            </a:r>
            <a:endParaRPr b="1" sz="3000">
              <a:solidFill>
                <a:srgbClr val="1A1A1A"/>
              </a:solidFill>
              <a:latin typeface="Raleway"/>
              <a:ea typeface="Raleway"/>
              <a:cs typeface="Raleway"/>
              <a:sym typeface="Raleway"/>
            </a:endParaRPr>
          </a:p>
          <a:p>
            <a:pPr indent="0" lvl="0" marL="0" rtl="0" algn="l">
              <a:spcBef>
                <a:spcPts val="0"/>
              </a:spcBef>
              <a:spcAft>
                <a:spcPts val="0"/>
              </a:spcAft>
              <a:buNone/>
            </a:pPr>
            <a:r>
              <a:rPr b="1" lang="en-GB" sz="2000">
                <a:solidFill>
                  <a:srgbClr val="1A1A1A"/>
                </a:solidFill>
                <a:latin typeface="Raleway"/>
                <a:ea typeface="Raleway"/>
                <a:cs typeface="Raleway"/>
                <a:sym typeface="Raleway"/>
              </a:rPr>
              <a:t>Employer Project - Bank of England</a:t>
            </a:r>
            <a:endParaRPr b="1" sz="2000">
              <a:solidFill>
                <a:srgbClr val="1A1A1A"/>
              </a:solidFill>
              <a:latin typeface="Raleway"/>
              <a:ea typeface="Raleway"/>
              <a:cs typeface="Raleway"/>
              <a:sym typeface="Raleway"/>
            </a:endParaRPr>
          </a:p>
        </p:txBody>
      </p:sp>
      <p:sp>
        <p:nvSpPr>
          <p:cNvPr id="87" name="Google Shape;87;p13"/>
          <p:cNvSpPr txBox="1"/>
          <p:nvPr/>
        </p:nvSpPr>
        <p:spPr>
          <a:xfrm>
            <a:off x="729625" y="3172900"/>
            <a:ext cx="7688100" cy="13251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b="1" lang="en-GB" sz="1140">
                <a:solidFill>
                  <a:srgbClr val="595959"/>
                </a:solidFill>
                <a:latin typeface="Lato"/>
                <a:ea typeface="Lato"/>
                <a:cs typeface="Lato"/>
                <a:sym typeface="Lato"/>
              </a:rPr>
              <a:t>Team 9 - Quarterly Bytes:</a:t>
            </a:r>
            <a:br>
              <a:rPr b="1" lang="en-GB" sz="1040">
                <a:solidFill>
                  <a:srgbClr val="595959"/>
                </a:solidFill>
                <a:latin typeface="Lato"/>
                <a:ea typeface="Lato"/>
                <a:cs typeface="Lato"/>
                <a:sym typeface="Lato"/>
              </a:rPr>
            </a:br>
            <a:r>
              <a:rPr lang="en-GB" sz="1040">
                <a:solidFill>
                  <a:srgbClr val="595959"/>
                </a:solidFill>
                <a:latin typeface="Lato"/>
                <a:ea typeface="Lato"/>
                <a:cs typeface="Lato"/>
                <a:sym typeface="Lato"/>
              </a:rPr>
              <a:t>Jacques Wemegan</a:t>
            </a:r>
            <a:br>
              <a:rPr lang="en-GB" sz="1040">
                <a:solidFill>
                  <a:srgbClr val="595959"/>
                </a:solidFill>
                <a:latin typeface="Lato"/>
                <a:ea typeface="Lato"/>
                <a:cs typeface="Lato"/>
                <a:sym typeface="Lato"/>
              </a:rPr>
            </a:br>
            <a:r>
              <a:rPr lang="en-GB" sz="1040">
                <a:solidFill>
                  <a:srgbClr val="595959"/>
                </a:solidFill>
                <a:latin typeface="Lato"/>
                <a:ea typeface="Lato"/>
                <a:cs typeface="Lato"/>
                <a:sym typeface="Lato"/>
              </a:rPr>
              <a:t>Kareem El-Wakeel</a:t>
            </a:r>
            <a:endParaRPr sz="1040">
              <a:solidFill>
                <a:srgbClr val="595959"/>
              </a:solidFill>
              <a:latin typeface="Lato"/>
              <a:ea typeface="Lato"/>
              <a:cs typeface="Lato"/>
              <a:sym typeface="Lato"/>
            </a:endParaRPr>
          </a:p>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Leslie Zi Pan</a:t>
            </a:r>
            <a:endParaRPr sz="1040">
              <a:solidFill>
                <a:srgbClr val="595959"/>
              </a:solidFill>
              <a:latin typeface="Lato"/>
              <a:ea typeface="Lato"/>
              <a:cs typeface="Lato"/>
              <a:sym typeface="Lato"/>
            </a:endParaRPr>
          </a:p>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Maciej Wojtkowiak</a:t>
            </a:r>
            <a:br>
              <a:rPr lang="en-GB" sz="1040">
                <a:solidFill>
                  <a:srgbClr val="595959"/>
                </a:solidFill>
                <a:latin typeface="Lato"/>
                <a:ea typeface="Lato"/>
                <a:cs typeface="Lato"/>
                <a:sym typeface="Lato"/>
              </a:rPr>
            </a:br>
            <a:r>
              <a:rPr lang="en-GB" sz="1040">
                <a:solidFill>
                  <a:srgbClr val="595959"/>
                </a:solidFill>
                <a:latin typeface="Lato"/>
                <a:ea typeface="Lato"/>
                <a:cs typeface="Lato"/>
                <a:sym typeface="Lato"/>
              </a:rPr>
              <a:t>Muhammad Ali Ashraf-uz-zaman</a:t>
            </a:r>
            <a:endParaRPr sz="1040">
              <a:solidFill>
                <a:srgbClr val="595959"/>
              </a:solidFill>
              <a:latin typeface="Lato"/>
              <a:ea typeface="Lato"/>
              <a:cs typeface="Lato"/>
              <a:sym typeface="Lato"/>
            </a:endParaRPr>
          </a:p>
          <a:p>
            <a:pPr indent="0" lvl="0" marL="0" rtl="0" algn="l">
              <a:lnSpc>
                <a:spcPct val="80000"/>
              </a:lnSpc>
              <a:spcBef>
                <a:spcPts val="0"/>
              </a:spcBef>
              <a:spcAft>
                <a:spcPts val="0"/>
              </a:spcAft>
              <a:buNone/>
            </a:pPr>
            <a:br>
              <a:rPr lang="en-GB" sz="1040">
                <a:solidFill>
                  <a:srgbClr val="595959"/>
                </a:solidFill>
                <a:latin typeface="Lato"/>
                <a:ea typeface="Lato"/>
                <a:cs typeface="Lato"/>
                <a:sym typeface="Lato"/>
              </a:rPr>
            </a:br>
            <a:r>
              <a:rPr b="1" lang="en-GB" sz="1040">
                <a:solidFill>
                  <a:srgbClr val="595959"/>
                </a:solidFill>
                <a:latin typeface="Lato"/>
                <a:ea typeface="Lato"/>
                <a:cs typeface="Lato"/>
                <a:sym typeface="Lato"/>
              </a:rPr>
              <a:t>Project Source Code Repository</a:t>
            </a:r>
            <a:endParaRPr b="1" sz="1040">
              <a:solidFill>
                <a:srgbClr val="595959"/>
              </a:solidFill>
              <a:latin typeface="Lato"/>
              <a:ea typeface="Lato"/>
              <a:cs typeface="Lato"/>
              <a:sym typeface="Lato"/>
            </a:endParaRPr>
          </a:p>
          <a:p>
            <a:pPr indent="0" lvl="0" marL="0" rtl="0" algn="l">
              <a:lnSpc>
                <a:spcPct val="80000"/>
              </a:lnSpc>
              <a:spcBef>
                <a:spcPts val="0"/>
              </a:spcBef>
              <a:spcAft>
                <a:spcPts val="0"/>
              </a:spcAft>
              <a:buNone/>
            </a:pPr>
            <a:r>
              <a:rPr lang="en-GB" sz="1040" u="sng">
                <a:solidFill>
                  <a:schemeClr val="hlink"/>
                </a:solidFill>
                <a:latin typeface="Lato"/>
                <a:ea typeface="Lato"/>
                <a:cs typeface="Lato"/>
                <a:sym typeface="Lato"/>
                <a:hlinkClick r:id="rId3"/>
              </a:rPr>
              <a:t>https://github.com/EErlando/Quarterly-Bytes</a:t>
            </a:r>
            <a:endParaRPr sz="1040">
              <a:solidFill>
                <a:srgbClr val="595959"/>
              </a:solidFill>
              <a:latin typeface="Lato"/>
              <a:ea typeface="Lato"/>
              <a:cs typeface="Lato"/>
              <a:sym typeface="Lato"/>
            </a:endParaRPr>
          </a:p>
          <a:p>
            <a:pPr indent="0" lvl="0" marL="0" rtl="0" algn="l">
              <a:lnSpc>
                <a:spcPct val="80000"/>
              </a:lnSpc>
              <a:spcBef>
                <a:spcPts val="0"/>
              </a:spcBef>
              <a:spcAft>
                <a:spcPts val="0"/>
              </a:spcAft>
              <a:buNone/>
            </a:pPr>
            <a:r>
              <a:t/>
            </a:r>
            <a:endParaRPr sz="1040">
              <a:solidFill>
                <a:srgbClr val="595959"/>
              </a:solidFill>
              <a:latin typeface="Lato"/>
              <a:ea typeface="Lato"/>
              <a:cs typeface="Lato"/>
              <a:sym typeface="Lato"/>
            </a:endParaRPr>
          </a:p>
          <a:p>
            <a:pPr indent="0" lvl="0" marL="0" rtl="0" algn="l">
              <a:lnSpc>
                <a:spcPct val="80000"/>
              </a:lnSpc>
              <a:spcBef>
                <a:spcPts val="0"/>
              </a:spcBef>
              <a:spcAft>
                <a:spcPts val="0"/>
              </a:spcAft>
              <a:buNone/>
            </a:pPr>
            <a:br>
              <a:rPr lang="en-GB" sz="1040">
                <a:solidFill>
                  <a:srgbClr val="595959"/>
                </a:solidFill>
                <a:latin typeface="Lato"/>
                <a:ea typeface="Lato"/>
                <a:cs typeface="Lato"/>
                <a:sym typeface="Lato"/>
              </a:rPr>
            </a:br>
            <a:endParaRPr sz="1040">
              <a:solidFill>
                <a:srgbClr val="595959"/>
              </a:solidFill>
              <a:latin typeface="Lato"/>
              <a:ea typeface="Lato"/>
              <a:cs typeface="Lato"/>
              <a:sym typeface="Lato"/>
            </a:endParaRPr>
          </a:p>
        </p:txBody>
      </p:sp>
      <p:pic>
        <p:nvPicPr>
          <p:cNvPr id="88" name="Google Shape;88;p13"/>
          <p:cNvPicPr preferRelativeResize="0"/>
          <p:nvPr/>
        </p:nvPicPr>
        <p:blipFill rotWithShape="1">
          <a:blip r:embed="rId4">
            <a:alphaModFix/>
          </a:blip>
          <a:srcRect b="35427" l="9697" r="8395" t="36735"/>
          <a:stretch/>
        </p:blipFill>
        <p:spPr>
          <a:xfrm>
            <a:off x="6257975" y="3172904"/>
            <a:ext cx="2216827" cy="471870"/>
          </a:xfrm>
          <a:prstGeom prst="rect">
            <a:avLst/>
          </a:prstGeom>
          <a:noFill/>
          <a:ln>
            <a:noFill/>
          </a:ln>
        </p:spPr>
      </p:pic>
      <p:pic>
        <p:nvPicPr>
          <p:cNvPr id="89" name="Google Shape;89;p13"/>
          <p:cNvPicPr preferRelativeResize="0"/>
          <p:nvPr/>
        </p:nvPicPr>
        <p:blipFill>
          <a:blip r:embed="rId5">
            <a:alphaModFix/>
          </a:blip>
          <a:stretch>
            <a:fillRect/>
          </a:stretch>
        </p:blipFill>
        <p:spPr>
          <a:xfrm>
            <a:off x="6257982" y="3793021"/>
            <a:ext cx="1066601" cy="390870"/>
          </a:xfrm>
          <a:prstGeom prst="rect">
            <a:avLst/>
          </a:prstGeom>
          <a:noFill/>
          <a:ln>
            <a:noFill/>
          </a:ln>
        </p:spPr>
      </p:pic>
      <p:sp>
        <p:nvSpPr>
          <p:cNvPr id="90" name="Google Shape;90;p13"/>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a:t>
            </a:r>
            <a:r>
              <a:rPr lang="en-GB" sz="1040">
                <a:solidFill>
                  <a:srgbClr val="595959"/>
                </a:solidFill>
                <a:latin typeface="Lato"/>
                <a:ea typeface="Lato"/>
                <a:cs typeface="Lato"/>
                <a:sym typeface="Lato"/>
              </a:rPr>
              <a:t>.07.2025 | Cambridge Institute Continued Education | Data Science with Machine Learning &amp; AI Career Accelerator </a:t>
            </a:r>
            <a:endParaRPr sz="1040">
              <a:solidFill>
                <a:srgbClr val="595959"/>
              </a:solidFill>
              <a:latin typeface="Lato"/>
              <a:ea typeface="Lato"/>
              <a:cs typeface="Lato"/>
              <a:sym typeface="Lato"/>
            </a:endParaRPr>
          </a:p>
        </p:txBody>
      </p:sp>
      <p:pic>
        <p:nvPicPr>
          <p:cNvPr id="91" name="Google Shape;91;p13"/>
          <p:cNvPicPr preferRelativeResize="0"/>
          <p:nvPr/>
        </p:nvPicPr>
        <p:blipFill>
          <a:blip r:embed="rId6">
            <a:alphaModFix/>
          </a:blip>
          <a:stretch>
            <a:fillRect/>
          </a:stretch>
        </p:blipFill>
        <p:spPr>
          <a:xfrm>
            <a:off x="7687175" y="3714100"/>
            <a:ext cx="548700" cy="548700"/>
          </a:xfrm>
          <a:prstGeom prst="rect">
            <a:avLst/>
          </a:prstGeom>
          <a:noFill/>
          <a:ln>
            <a:noFill/>
          </a:ln>
        </p:spPr>
      </p:pic>
      <p:sp>
        <p:nvSpPr>
          <p:cNvPr id="92" name="Google Shape;92;p1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Background &amp; Business Context</a:t>
            </a:r>
            <a:endParaRPr/>
          </a:p>
        </p:txBody>
      </p:sp>
      <p:sp>
        <p:nvSpPr>
          <p:cNvPr id="98" name="Google Shape;98;p14"/>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
        <p:nvSpPr>
          <p:cNvPr id="99" name="Google Shape;99;p1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The Business Question</a:t>
            </a:r>
            <a:endParaRPr/>
          </a:p>
        </p:txBody>
      </p:sp>
      <p:sp>
        <p:nvSpPr>
          <p:cNvPr id="105" name="Google Shape;105;p15"/>
          <p:cNvSpPr txBox="1"/>
          <p:nvPr>
            <p:ph idx="1" type="body"/>
          </p:nvPr>
        </p:nvSpPr>
        <p:spPr>
          <a:xfrm>
            <a:off x="729450" y="2078875"/>
            <a:ext cx="3957600" cy="22611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GB"/>
              <a:t>C</a:t>
            </a:r>
            <a:r>
              <a:rPr lang="en-GB"/>
              <a:t>an advanced NLP and Large Language Models (LLMs) enable the PRA team to more efficiently identify, assess, and monitor emerging risks and strategic shifts within regulated entities from earnings call data?</a:t>
            </a:r>
            <a:endParaRPr/>
          </a:p>
          <a:p>
            <a:pPr indent="0" lvl="0" marL="0" rtl="0" algn="l">
              <a:spcBef>
                <a:spcPts val="1200"/>
              </a:spcBef>
              <a:spcAft>
                <a:spcPts val="1200"/>
              </a:spcAft>
              <a:buNone/>
            </a:pPr>
            <a:r>
              <a:t/>
            </a:r>
            <a:endParaRPr/>
          </a:p>
        </p:txBody>
      </p:sp>
      <p:sp>
        <p:nvSpPr>
          <p:cNvPr id="106" name="Google Shape;106;p15"/>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
        <p:nvSpPr>
          <p:cNvPr id="107" name="Google Shape;107;p1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descr="Image of " id="108" name="Google Shape;108;p15"/>
          <p:cNvPicPr preferRelativeResize="0"/>
          <p:nvPr/>
        </p:nvPicPr>
        <p:blipFill>
          <a:blip r:embed="rId3">
            <a:alphaModFix/>
          </a:blip>
          <a:stretch>
            <a:fillRect/>
          </a:stretch>
        </p:blipFill>
        <p:spPr>
          <a:xfrm>
            <a:off x="5098475" y="890250"/>
            <a:ext cx="3363000" cy="3363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The Challenge</a:t>
            </a:r>
            <a:endParaRPr/>
          </a:p>
        </p:txBody>
      </p:sp>
      <p:sp>
        <p:nvSpPr>
          <p:cNvPr id="114" name="Google Shape;114;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1200"/>
              </a:spcBef>
              <a:spcAft>
                <a:spcPts val="0"/>
              </a:spcAft>
              <a:buSzPts val="1300"/>
              <a:buChar char="●"/>
            </a:pPr>
            <a:r>
              <a:rPr lang="en-GB"/>
              <a:t>Information </a:t>
            </a:r>
            <a:r>
              <a:rPr lang="en-GB"/>
              <a:t>Overload</a:t>
            </a:r>
            <a:endParaRPr/>
          </a:p>
          <a:p>
            <a:pPr indent="-311150" lvl="0" marL="457200" rtl="0" algn="l">
              <a:spcBef>
                <a:spcPts val="0"/>
              </a:spcBef>
              <a:spcAft>
                <a:spcPts val="0"/>
              </a:spcAft>
              <a:buSzPts val="1300"/>
              <a:buChar char="●"/>
            </a:pPr>
            <a:r>
              <a:rPr lang="en-GB"/>
              <a:t>Unstructured Data Complexity</a:t>
            </a:r>
            <a:endParaRPr/>
          </a:p>
          <a:p>
            <a:pPr indent="-311150" lvl="0" marL="457200" rtl="0" algn="l">
              <a:spcBef>
                <a:spcPts val="0"/>
              </a:spcBef>
              <a:spcAft>
                <a:spcPts val="0"/>
              </a:spcAft>
              <a:buSzPts val="1300"/>
              <a:buChar char="●"/>
            </a:pPr>
            <a:r>
              <a:rPr lang="en-GB"/>
              <a:t>Identifying Nuance and </a:t>
            </a:r>
            <a:r>
              <a:rPr lang="en-GB"/>
              <a:t>Subtlety</a:t>
            </a:r>
            <a:endParaRPr/>
          </a:p>
          <a:p>
            <a:pPr indent="-311150" lvl="0" marL="457200" rtl="0" algn="l">
              <a:spcBef>
                <a:spcPts val="0"/>
              </a:spcBef>
              <a:spcAft>
                <a:spcPts val="0"/>
              </a:spcAft>
              <a:buSzPts val="1300"/>
              <a:buChar char="●"/>
            </a:pPr>
            <a:r>
              <a:rPr lang="en-GB"/>
              <a:t>Timeliness and Proactivity</a:t>
            </a:r>
            <a:endParaRPr/>
          </a:p>
          <a:p>
            <a:pPr indent="-311150" lvl="0" marL="457200" rtl="0" algn="l">
              <a:spcBef>
                <a:spcPts val="0"/>
              </a:spcBef>
              <a:spcAft>
                <a:spcPts val="0"/>
              </a:spcAft>
              <a:buSzPts val="1300"/>
              <a:buChar char="●"/>
            </a:pPr>
            <a:r>
              <a:rPr lang="en-GB"/>
              <a:t>Consistency</a:t>
            </a:r>
            <a:endParaRPr/>
          </a:p>
        </p:txBody>
      </p:sp>
      <p:sp>
        <p:nvSpPr>
          <p:cNvPr id="115" name="Google Shape;115;p16"/>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
        <p:nvSpPr>
          <p:cNvPr id="116" name="Google Shape;116;p1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descr="https://botpenguin.com/glossary/five-v-of-big-data" id="117" name="Google Shape;117;p16"/>
          <p:cNvPicPr preferRelativeResize="0"/>
          <p:nvPr/>
        </p:nvPicPr>
        <p:blipFill>
          <a:blip r:embed="rId3">
            <a:alphaModFix/>
          </a:blip>
          <a:stretch>
            <a:fillRect/>
          </a:stretch>
        </p:blipFill>
        <p:spPr>
          <a:xfrm>
            <a:off x="785150" y="1795250"/>
            <a:ext cx="5612851" cy="2828351"/>
          </a:xfrm>
          <a:prstGeom prst="rect">
            <a:avLst/>
          </a:prstGeom>
          <a:noFill/>
          <a:ln>
            <a:noFill/>
          </a:ln>
        </p:spPr>
      </p:pic>
      <p:sp>
        <p:nvSpPr>
          <p:cNvPr id="118" name="Google Shape;118;p16"/>
          <p:cNvSpPr txBox="1"/>
          <p:nvPr/>
        </p:nvSpPr>
        <p:spPr>
          <a:xfrm>
            <a:off x="845825" y="4486300"/>
            <a:ext cx="2181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900">
                <a:solidFill>
                  <a:srgbClr val="666666"/>
                </a:solidFill>
                <a:highlight>
                  <a:srgbClr val="FFFFFF"/>
                </a:highlight>
              </a:rPr>
              <a:t>https://www.passionned.com/</a:t>
            </a:r>
            <a:endParaRPr i="1" sz="1300">
              <a:solidFill>
                <a:schemeClr val="accen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AI-Driven Approach</a:t>
            </a:r>
            <a:endParaRPr/>
          </a:p>
        </p:txBody>
      </p:sp>
      <p:sp>
        <p:nvSpPr>
          <p:cNvPr id="124" name="Google Shape;124;p17"/>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
        <p:nvSpPr>
          <p:cNvPr id="125" name="Google Shape;125;p1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High Level Methodology</a:t>
            </a:r>
            <a:endParaRPr/>
          </a:p>
        </p:txBody>
      </p:sp>
      <p:sp>
        <p:nvSpPr>
          <p:cNvPr id="131" name="Google Shape;131;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GB"/>
              <a:t>Traditional Data Science:</a:t>
            </a:r>
            <a:r>
              <a:rPr lang="en-GB"/>
              <a:t> For foundational analysis, structured insights, and trend identification (e.g., EDA, Topic Modeling)</a:t>
            </a:r>
            <a:endParaRPr/>
          </a:p>
          <a:p>
            <a:pPr indent="0" lvl="0" marL="0" rtl="0" algn="l">
              <a:spcBef>
                <a:spcPts val="1200"/>
              </a:spcBef>
              <a:spcAft>
                <a:spcPts val="0"/>
              </a:spcAft>
              <a:buNone/>
            </a:pPr>
            <a:r>
              <a:rPr b="1" lang="en-GB"/>
              <a:t>Large Language Models (LLMs):</a:t>
            </a:r>
            <a:r>
              <a:rPr lang="en-GB"/>
              <a:t> Nuanced text understanding, generative capabilities, and complex information extraction.</a:t>
            </a:r>
            <a:endParaRPr/>
          </a:p>
          <a:p>
            <a:pPr indent="0" lvl="0" marL="0" rtl="0" algn="l">
              <a:spcBef>
                <a:spcPts val="1200"/>
              </a:spcBef>
              <a:spcAft>
                <a:spcPts val="0"/>
              </a:spcAft>
              <a:buNone/>
            </a:pPr>
            <a:r>
              <a:rPr b="1" lang="en-GB"/>
              <a:t>Beyond the Scope</a:t>
            </a:r>
            <a:r>
              <a:rPr b="1" lang="en-GB"/>
              <a:t>:</a:t>
            </a:r>
            <a:r>
              <a:rPr lang="en-GB"/>
              <a:t> How can we leverage methodologies and theories beyond this scope to significantly enhance and expand this project for PRA (Prudential Regulation Authority) usage?</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132" name="Google Shape;132;p1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33" name="Google Shape;133;p18"/>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Data Sources</a:t>
            </a:r>
            <a:endParaRPr/>
          </a:p>
        </p:txBody>
      </p:sp>
      <p:sp>
        <p:nvSpPr>
          <p:cNvPr id="139" name="Google Shape;139;p1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lnSpc>
                <a:spcPct val="100000"/>
              </a:lnSpc>
              <a:spcBef>
                <a:spcPts val="0"/>
              </a:spcBef>
              <a:spcAft>
                <a:spcPts val="0"/>
              </a:spcAft>
              <a:buSzPts val="1300"/>
              <a:buChar char="●"/>
            </a:pPr>
            <a:r>
              <a:rPr lang="en-GB"/>
              <a:t>Comprehensive dataset of earnings calls from JP Morgan and Goldman Sachs over the last 3 years</a:t>
            </a:r>
            <a:endParaRPr/>
          </a:p>
          <a:p>
            <a:pPr indent="0" lvl="0" marL="457200" rtl="0" algn="l">
              <a:lnSpc>
                <a:spcPct val="100000"/>
              </a:lnSpc>
              <a:spcBef>
                <a:spcPts val="0"/>
              </a:spcBef>
              <a:spcAft>
                <a:spcPts val="0"/>
              </a:spcAft>
              <a:buNone/>
            </a:pPr>
            <a:r>
              <a:t/>
            </a:r>
            <a:endParaRPr/>
          </a:p>
          <a:p>
            <a:pPr indent="-311150" lvl="0" marL="457200" rtl="0" algn="l">
              <a:lnSpc>
                <a:spcPct val="100000"/>
              </a:lnSpc>
              <a:spcBef>
                <a:spcPts val="0"/>
              </a:spcBef>
              <a:spcAft>
                <a:spcPts val="0"/>
              </a:spcAft>
              <a:buSzPts val="1300"/>
              <a:buChar char="●"/>
            </a:pPr>
            <a:r>
              <a:rPr lang="en-GB"/>
              <a:t>Focus on the Q&amp;A section and management discussions for in-depth analysis</a:t>
            </a:r>
            <a:endParaRPr/>
          </a:p>
        </p:txBody>
      </p:sp>
      <p:sp>
        <p:nvSpPr>
          <p:cNvPr id="140" name="Google Shape;140;p1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41" name="Google Shape;141;p19"/>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Key Analytical Pillars</a:t>
            </a:r>
            <a:endParaRPr/>
          </a:p>
        </p:txBody>
      </p:sp>
      <p:sp>
        <p:nvSpPr>
          <p:cNvPr id="147" name="Google Shape;147;p2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05276" lvl="0" marL="457200" rtl="0" algn="l">
              <a:lnSpc>
                <a:spcPct val="100000"/>
              </a:lnSpc>
              <a:spcBef>
                <a:spcPts val="0"/>
              </a:spcBef>
              <a:spcAft>
                <a:spcPts val="0"/>
              </a:spcAft>
              <a:buSzPts val="1208"/>
              <a:buChar char="●"/>
            </a:pPr>
            <a:r>
              <a:rPr b="1" lang="en-GB" sz="1207"/>
              <a:t>Enhanced Sentiment Analysis:</a:t>
            </a:r>
            <a:r>
              <a:rPr lang="en-GB" sz="1207"/>
              <a:t> </a:t>
            </a:r>
            <a:r>
              <a:rPr lang="en-GB" sz="1207"/>
              <a:t>Beyond</a:t>
            </a:r>
            <a:r>
              <a:rPr lang="en-GB" sz="1207"/>
              <a:t> the basic sentiment, identify the divergence between analyst and management.</a:t>
            </a:r>
            <a:endParaRPr sz="1207"/>
          </a:p>
          <a:p>
            <a:pPr indent="0" lvl="0" marL="457200" rtl="0" algn="l">
              <a:lnSpc>
                <a:spcPct val="100000"/>
              </a:lnSpc>
              <a:spcBef>
                <a:spcPts val="0"/>
              </a:spcBef>
              <a:spcAft>
                <a:spcPts val="0"/>
              </a:spcAft>
              <a:buSzPts val="852"/>
              <a:buNone/>
            </a:pPr>
            <a:r>
              <a:t/>
            </a:r>
            <a:endParaRPr sz="1207"/>
          </a:p>
          <a:p>
            <a:pPr indent="-305276" lvl="0" marL="457200" rtl="0" algn="l">
              <a:lnSpc>
                <a:spcPct val="100000"/>
              </a:lnSpc>
              <a:spcBef>
                <a:spcPts val="0"/>
              </a:spcBef>
              <a:spcAft>
                <a:spcPts val="0"/>
              </a:spcAft>
              <a:buSzPts val="1208"/>
              <a:buChar char="●"/>
            </a:pPr>
            <a:r>
              <a:rPr b="1" lang="en-GB" sz="1207"/>
              <a:t>Text Summarisation and Risk Profiling: </a:t>
            </a:r>
            <a:r>
              <a:rPr lang="en-GB" sz="1207"/>
              <a:t>Condensing information and identifying hidden risks.</a:t>
            </a:r>
            <a:endParaRPr sz="1207"/>
          </a:p>
          <a:p>
            <a:pPr indent="0" lvl="0" marL="457200" rtl="0" algn="l">
              <a:lnSpc>
                <a:spcPct val="100000"/>
              </a:lnSpc>
              <a:spcBef>
                <a:spcPts val="0"/>
              </a:spcBef>
              <a:spcAft>
                <a:spcPts val="0"/>
              </a:spcAft>
              <a:buSzPts val="852"/>
              <a:buNone/>
            </a:pPr>
            <a:r>
              <a:t/>
            </a:r>
            <a:endParaRPr sz="1207"/>
          </a:p>
          <a:p>
            <a:pPr indent="-305276" lvl="0" marL="457200" rtl="0" algn="l">
              <a:lnSpc>
                <a:spcPct val="100000"/>
              </a:lnSpc>
              <a:spcBef>
                <a:spcPts val="0"/>
              </a:spcBef>
              <a:spcAft>
                <a:spcPts val="0"/>
              </a:spcAft>
              <a:buSzPts val="1208"/>
              <a:buChar char="●"/>
            </a:pPr>
            <a:r>
              <a:rPr b="1" lang="en-GB" sz="1207"/>
              <a:t>Targeting Information Extraction: </a:t>
            </a:r>
            <a:r>
              <a:rPr lang="en-GB" sz="1207"/>
              <a:t>Pinpointing statements of concern for direct PRA action and questioning.</a:t>
            </a:r>
            <a:endParaRPr sz="1207"/>
          </a:p>
          <a:p>
            <a:pPr indent="0" lvl="0" marL="457200" rtl="0" algn="l">
              <a:lnSpc>
                <a:spcPct val="100000"/>
              </a:lnSpc>
              <a:spcBef>
                <a:spcPts val="0"/>
              </a:spcBef>
              <a:spcAft>
                <a:spcPts val="0"/>
              </a:spcAft>
              <a:buSzPts val="852"/>
              <a:buNone/>
            </a:pPr>
            <a:r>
              <a:t/>
            </a:r>
            <a:endParaRPr sz="1207"/>
          </a:p>
          <a:p>
            <a:pPr indent="-305276" lvl="0" marL="457200" rtl="0" algn="l">
              <a:lnSpc>
                <a:spcPct val="100000"/>
              </a:lnSpc>
              <a:spcBef>
                <a:spcPts val="0"/>
              </a:spcBef>
              <a:spcAft>
                <a:spcPts val="0"/>
              </a:spcAft>
              <a:buSzPts val="1208"/>
              <a:buChar char="●"/>
            </a:pPr>
            <a:r>
              <a:rPr b="1" lang="en-GB" sz="1207"/>
              <a:t>Topic Trend Analysis: </a:t>
            </a:r>
            <a:r>
              <a:rPr lang="en-GB" sz="1207"/>
              <a:t>Understanding the evolving discussion themes across time and by executive.</a:t>
            </a:r>
            <a:endParaRPr sz="1207"/>
          </a:p>
        </p:txBody>
      </p:sp>
      <p:sp>
        <p:nvSpPr>
          <p:cNvPr id="148" name="Google Shape;148;p2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49" name="Google Shape;149;p20"/>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1"/>
          <p:cNvSpPr txBox="1"/>
          <p:nvPr>
            <p:ph type="title"/>
          </p:nvPr>
        </p:nvSpPr>
        <p:spPr>
          <a:xfrm>
            <a:off x="729450" y="1322450"/>
            <a:ext cx="7688400" cy="1518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Project Development Process: Initial Exploration &amp; Foundational Insights</a:t>
            </a:r>
            <a:endParaRPr/>
          </a:p>
        </p:txBody>
      </p:sp>
      <p:sp>
        <p:nvSpPr>
          <p:cNvPr id="155" name="Google Shape;155;p2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56" name="Google Shape;156;p21"/>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EDA Objectives</a:t>
            </a:r>
            <a:endParaRPr/>
          </a:p>
        </p:txBody>
      </p:sp>
      <p:sp>
        <p:nvSpPr>
          <p:cNvPr id="162" name="Google Shape;162;p22"/>
          <p:cNvSpPr txBox="1"/>
          <p:nvPr>
            <p:ph idx="1" type="body"/>
          </p:nvPr>
        </p:nvSpPr>
        <p:spPr>
          <a:xfrm>
            <a:off x="729450" y="1914650"/>
            <a:ext cx="7688700" cy="2261100"/>
          </a:xfrm>
          <a:prstGeom prst="rect">
            <a:avLst/>
          </a:prstGeom>
        </p:spPr>
        <p:txBody>
          <a:bodyPr anchorCtr="0" anchor="t" bIns="91425" lIns="91425" spcFirstLastPara="1" rIns="91425" wrap="square" tIns="91425">
            <a:noAutofit/>
          </a:bodyPr>
          <a:lstStyle/>
          <a:p>
            <a:pPr indent="0" lvl="0" marL="0" rtl="0" algn="just">
              <a:lnSpc>
                <a:spcPct val="100000"/>
              </a:lnSpc>
              <a:spcBef>
                <a:spcPts val="0"/>
              </a:spcBef>
              <a:spcAft>
                <a:spcPts val="0"/>
              </a:spcAft>
              <a:buNone/>
            </a:pPr>
            <a:r>
              <a:rPr lang="en-GB" sz="1407"/>
              <a:t>In this EDA, we compare how Goldman Sachs and JP Morgan leadership teams communicate during earnings calls from 2022–2024. By segmenting transcripts by speaker role and session type (MD vs Q&amp;A), we quantify who speaks most, track changes over time, analyze vocabulary and terminology, and measure how concise or detailed each speaker is. This lets us identify key communication patterns and differences in executive style across the two banks.</a:t>
            </a:r>
            <a:endParaRPr sz="1407"/>
          </a:p>
        </p:txBody>
      </p:sp>
      <p:sp>
        <p:nvSpPr>
          <p:cNvPr id="163" name="Google Shape;163;p2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64" name="Google Shape;164;p22"/>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3"/>
          <p:cNvSpPr txBox="1"/>
          <p:nvPr>
            <p:ph type="title"/>
          </p:nvPr>
        </p:nvSpPr>
        <p:spPr>
          <a:xfrm>
            <a:off x="7294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Word Count by Role &amp; Over Time</a:t>
            </a:r>
            <a:endParaRPr/>
          </a:p>
        </p:txBody>
      </p:sp>
      <p:sp>
        <p:nvSpPr>
          <p:cNvPr id="170" name="Google Shape;170;p23"/>
          <p:cNvSpPr txBox="1"/>
          <p:nvPr>
            <p:ph idx="1" type="body"/>
          </p:nvPr>
        </p:nvSpPr>
        <p:spPr>
          <a:xfrm>
            <a:off x="990775" y="3601313"/>
            <a:ext cx="1288200" cy="274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935"/>
              <a:buNone/>
            </a:pPr>
            <a:r>
              <a:rPr b="1" lang="en-GB" sz="995"/>
              <a:t>Goldman Sachs:</a:t>
            </a:r>
            <a:endParaRPr b="1" sz="995"/>
          </a:p>
        </p:txBody>
      </p:sp>
      <p:sp>
        <p:nvSpPr>
          <p:cNvPr id="171" name="Google Shape;171;p2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72" name="Google Shape;172;p23"/>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pic>
        <p:nvPicPr>
          <p:cNvPr id="173" name="Google Shape;173;p23"/>
          <p:cNvPicPr preferRelativeResize="0"/>
          <p:nvPr/>
        </p:nvPicPr>
        <p:blipFill>
          <a:blip r:embed="rId3">
            <a:alphaModFix/>
          </a:blip>
          <a:stretch>
            <a:fillRect/>
          </a:stretch>
        </p:blipFill>
        <p:spPr>
          <a:xfrm>
            <a:off x="872175" y="1259350"/>
            <a:ext cx="3377876" cy="1210150"/>
          </a:xfrm>
          <a:prstGeom prst="rect">
            <a:avLst/>
          </a:prstGeom>
          <a:noFill/>
          <a:ln>
            <a:noFill/>
          </a:ln>
        </p:spPr>
      </p:pic>
      <p:pic>
        <p:nvPicPr>
          <p:cNvPr id="174" name="Google Shape;174;p23"/>
          <p:cNvPicPr preferRelativeResize="0"/>
          <p:nvPr/>
        </p:nvPicPr>
        <p:blipFill>
          <a:blip r:embed="rId4">
            <a:alphaModFix/>
          </a:blip>
          <a:stretch>
            <a:fillRect/>
          </a:stretch>
        </p:blipFill>
        <p:spPr>
          <a:xfrm>
            <a:off x="846250" y="2386975"/>
            <a:ext cx="3429725" cy="1243075"/>
          </a:xfrm>
          <a:prstGeom prst="rect">
            <a:avLst/>
          </a:prstGeom>
          <a:noFill/>
          <a:ln>
            <a:noFill/>
          </a:ln>
        </p:spPr>
      </p:pic>
      <p:pic>
        <p:nvPicPr>
          <p:cNvPr id="175" name="Google Shape;175;p23"/>
          <p:cNvPicPr preferRelativeResize="0"/>
          <p:nvPr/>
        </p:nvPicPr>
        <p:blipFill>
          <a:blip r:embed="rId5">
            <a:alphaModFix/>
          </a:blip>
          <a:stretch>
            <a:fillRect/>
          </a:stretch>
        </p:blipFill>
        <p:spPr>
          <a:xfrm>
            <a:off x="4397050" y="1259350"/>
            <a:ext cx="3259226" cy="1166100"/>
          </a:xfrm>
          <a:prstGeom prst="rect">
            <a:avLst/>
          </a:prstGeom>
          <a:noFill/>
          <a:ln>
            <a:noFill/>
          </a:ln>
        </p:spPr>
      </p:pic>
      <p:pic>
        <p:nvPicPr>
          <p:cNvPr id="176" name="Google Shape;176;p23"/>
          <p:cNvPicPr preferRelativeResize="0"/>
          <p:nvPr/>
        </p:nvPicPr>
        <p:blipFill>
          <a:blip r:embed="rId6">
            <a:alphaModFix/>
          </a:blip>
          <a:stretch>
            <a:fillRect/>
          </a:stretch>
        </p:blipFill>
        <p:spPr>
          <a:xfrm>
            <a:off x="4397050" y="2381400"/>
            <a:ext cx="3259226" cy="1210150"/>
          </a:xfrm>
          <a:prstGeom prst="rect">
            <a:avLst/>
          </a:prstGeom>
          <a:noFill/>
          <a:ln>
            <a:noFill/>
          </a:ln>
        </p:spPr>
      </p:pic>
      <p:sp>
        <p:nvSpPr>
          <p:cNvPr id="177" name="Google Shape;177;p23"/>
          <p:cNvSpPr txBox="1"/>
          <p:nvPr>
            <p:ph idx="1" type="body"/>
          </p:nvPr>
        </p:nvSpPr>
        <p:spPr>
          <a:xfrm>
            <a:off x="1052475" y="3781900"/>
            <a:ext cx="3461700" cy="421500"/>
          </a:xfrm>
          <a:prstGeom prst="rect">
            <a:avLst/>
          </a:prstGeom>
        </p:spPr>
        <p:txBody>
          <a:bodyPr anchorCtr="0" anchor="t" bIns="91425" lIns="91425" spcFirstLastPara="1" rIns="91425" wrap="square" tIns="91425">
            <a:noAutofit/>
          </a:bodyPr>
          <a:lstStyle/>
          <a:p>
            <a:pPr indent="-146832" lvl="0" marL="89999" rtl="0" algn="l">
              <a:spcBef>
                <a:spcPts val="0"/>
              </a:spcBef>
              <a:spcAft>
                <a:spcPts val="0"/>
              </a:spcAft>
              <a:buSzPts val="895"/>
              <a:buChar char="-"/>
            </a:pPr>
            <a:r>
              <a:rPr lang="en-GB" sz="895"/>
              <a:t>The Chairman &amp; CEO and CFO are the dominant speakers, especially in Q&amp;A sessions.</a:t>
            </a:r>
            <a:endParaRPr sz="895"/>
          </a:p>
        </p:txBody>
      </p:sp>
      <p:sp>
        <p:nvSpPr>
          <p:cNvPr id="178" name="Google Shape;178;p23"/>
          <p:cNvSpPr txBox="1"/>
          <p:nvPr>
            <p:ph idx="1" type="body"/>
          </p:nvPr>
        </p:nvSpPr>
        <p:spPr>
          <a:xfrm>
            <a:off x="1081750" y="4119213"/>
            <a:ext cx="3461700" cy="421500"/>
          </a:xfrm>
          <a:prstGeom prst="rect">
            <a:avLst/>
          </a:prstGeom>
        </p:spPr>
        <p:txBody>
          <a:bodyPr anchorCtr="0" anchor="t" bIns="91425" lIns="91425" spcFirstLastPara="1" rIns="91425" wrap="square" tIns="91425">
            <a:noAutofit/>
          </a:bodyPr>
          <a:lstStyle/>
          <a:p>
            <a:pPr indent="-146832" lvl="0" marL="89999" rtl="0" algn="l">
              <a:spcBef>
                <a:spcPts val="0"/>
              </a:spcBef>
              <a:spcAft>
                <a:spcPts val="0"/>
              </a:spcAft>
              <a:buSzPts val="895"/>
              <a:buChar char="-"/>
            </a:pPr>
            <a:r>
              <a:rPr lang="en-GB" sz="895"/>
              <a:t>Word count by quarter is steady, suggesting consistent meeting length and leadership engagement.</a:t>
            </a:r>
            <a:endParaRPr sz="895"/>
          </a:p>
        </p:txBody>
      </p:sp>
      <p:sp>
        <p:nvSpPr>
          <p:cNvPr id="179" name="Google Shape;179;p23"/>
          <p:cNvSpPr txBox="1"/>
          <p:nvPr>
            <p:ph idx="1" type="body"/>
          </p:nvPr>
        </p:nvSpPr>
        <p:spPr>
          <a:xfrm>
            <a:off x="4634150" y="3601313"/>
            <a:ext cx="1288200" cy="274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935"/>
              <a:buNone/>
            </a:pPr>
            <a:r>
              <a:rPr b="1" lang="en-GB" sz="995"/>
              <a:t>JP Morgan</a:t>
            </a:r>
            <a:r>
              <a:rPr b="1" lang="en-GB" sz="995"/>
              <a:t>:</a:t>
            </a:r>
            <a:endParaRPr b="1" sz="995"/>
          </a:p>
        </p:txBody>
      </p:sp>
      <p:sp>
        <p:nvSpPr>
          <p:cNvPr id="180" name="Google Shape;180;p23"/>
          <p:cNvSpPr txBox="1"/>
          <p:nvPr>
            <p:ph idx="1" type="body"/>
          </p:nvPr>
        </p:nvSpPr>
        <p:spPr>
          <a:xfrm>
            <a:off x="4684400" y="3781900"/>
            <a:ext cx="3461700" cy="421500"/>
          </a:xfrm>
          <a:prstGeom prst="rect">
            <a:avLst/>
          </a:prstGeom>
        </p:spPr>
        <p:txBody>
          <a:bodyPr anchorCtr="0" anchor="t" bIns="91425" lIns="91425" spcFirstLastPara="1" rIns="91425" wrap="square" tIns="91425">
            <a:noAutofit/>
          </a:bodyPr>
          <a:lstStyle/>
          <a:p>
            <a:pPr indent="-146832" lvl="0" marL="89999" rtl="0" algn="l">
              <a:spcBef>
                <a:spcPts val="0"/>
              </a:spcBef>
              <a:spcAft>
                <a:spcPts val="0"/>
              </a:spcAft>
              <a:buSzPts val="895"/>
              <a:buChar char="-"/>
            </a:pPr>
            <a:r>
              <a:rPr lang="en-GB" sz="895"/>
              <a:t>CFO leads in total word count, with the Analyst and Chairman/CEO sharing the floor more evenly in Q&amp;A.</a:t>
            </a:r>
            <a:endParaRPr sz="895"/>
          </a:p>
        </p:txBody>
      </p:sp>
      <p:sp>
        <p:nvSpPr>
          <p:cNvPr id="181" name="Google Shape;181;p23"/>
          <p:cNvSpPr txBox="1"/>
          <p:nvPr>
            <p:ph idx="1" type="body"/>
          </p:nvPr>
        </p:nvSpPr>
        <p:spPr>
          <a:xfrm>
            <a:off x="4684400" y="4096550"/>
            <a:ext cx="3461700" cy="421500"/>
          </a:xfrm>
          <a:prstGeom prst="rect">
            <a:avLst/>
          </a:prstGeom>
        </p:spPr>
        <p:txBody>
          <a:bodyPr anchorCtr="0" anchor="t" bIns="91425" lIns="91425" spcFirstLastPara="1" rIns="91425" wrap="square" tIns="91425">
            <a:noAutofit/>
          </a:bodyPr>
          <a:lstStyle/>
          <a:p>
            <a:pPr indent="-146832" lvl="0" marL="89999" rtl="0" algn="l">
              <a:spcBef>
                <a:spcPts val="0"/>
              </a:spcBef>
              <a:spcAft>
                <a:spcPts val="0"/>
              </a:spcAft>
              <a:buSzPts val="895"/>
              <a:buChar char="-"/>
            </a:pPr>
            <a:r>
              <a:rPr lang="en-GB" sz="895"/>
              <a:t>Some fluctuation in total word count and unique speakers by quarter, indicating shifts in participation or meeting format.</a:t>
            </a:r>
            <a:endParaRPr sz="895"/>
          </a:p>
        </p:txBody>
      </p:sp>
      <p:sp>
        <p:nvSpPr>
          <p:cNvPr id="182" name="Google Shape;182;p23"/>
          <p:cNvSpPr txBox="1"/>
          <p:nvPr>
            <p:ph idx="1" type="body"/>
          </p:nvPr>
        </p:nvSpPr>
        <p:spPr>
          <a:xfrm>
            <a:off x="3108850" y="1330102"/>
            <a:ext cx="1288200" cy="324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935"/>
              <a:buNone/>
            </a:pPr>
            <a:r>
              <a:rPr b="1" lang="en-GB" sz="895"/>
              <a:t>Goldman Sachs</a:t>
            </a:r>
            <a:endParaRPr b="1" sz="895"/>
          </a:p>
        </p:txBody>
      </p:sp>
      <p:sp>
        <p:nvSpPr>
          <p:cNvPr id="183" name="Google Shape;183;p23"/>
          <p:cNvSpPr txBox="1"/>
          <p:nvPr>
            <p:ph idx="1" type="body"/>
          </p:nvPr>
        </p:nvSpPr>
        <p:spPr>
          <a:xfrm>
            <a:off x="6857900" y="1281377"/>
            <a:ext cx="1288200" cy="324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935"/>
              <a:buNone/>
            </a:pPr>
            <a:r>
              <a:rPr b="1" lang="en-GB" sz="895"/>
              <a:t>JP Morgan</a:t>
            </a:r>
            <a:endParaRPr b="1" sz="895"/>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4"/>
          <p:cNvSpPr txBox="1"/>
          <p:nvPr>
            <p:ph type="title"/>
          </p:nvPr>
        </p:nvSpPr>
        <p:spPr>
          <a:xfrm>
            <a:off x="630925"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t>
            </a:r>
            <a:r>
              <a:rPr lang="en-GB"/>
              <a:t>op Words in Presentations vs Q&amp;A</a:t>
            </a:r>
            <a:endParaRPr/>
          </a:p>
        </p:txBody>
      </p:sp>
      <p:sp>
        <p:nvSpPr>
          <p:cNvPr id="189" name="Google Shape;189;p2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90" name="Google Shape;190;p24"/>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pic>
        <p:nvPicPr>
          <p:cNvPr id="191" name="Google Shape;191;p24"/>
          <p:cNvPicPr preferRelativeResize="0"/>
          <p:nvPr/>
        </p:nvPicPr>
        <p:blipFill>
          <a:blip r:embed="rId3">
            <a:alphaModFix/>
          </a:blip>
          <a:stretch>
            <a:fillRect/>
          </a:stretch>
        </p:blipFill>
        <p:spPr>
          <a:xfrm>
            <a:off x="4687550" y="1212475"/>
            <a:ext cx="2264825" cy="1564156"/>
          </a:xfrm>
          <a:prstGeom prst="rect">
            <a:avLst/>
          </a:prstGeom>
          <a:noFill/>
          <a:ln>
            <a:noFill/>
          </a:ln>
        </p:spPr>
      </p:pic>
      <p:pic>
        <p:nvPicPr>
          <p:cNvPr id="192" name="Google Shape;192;p24"/>
          <p:cNvPicPr preferRelativeResize="0"/>
          <p:nvPr/>
        </p:nvPicPr>
        <p:blipFill>
          <a:blip r:embed="rId4">
            <a:alphaModFix/>
          </a:blip>
          <a:stretch>
            <a:fillRect/>
          </a:stretch>
        </p:blipFill>
        <p:spPr>
          <a:xfrm>
            <a:off x="4687556" y="2828200"/>
            <a:ext cx="2288644" cy="1580600"/>
          </a:xfrm>
          <a:prstGeom prst="rect">
            <a:avLst/>
          </a:prstGeom>
          <a:noFill/>
          <a:ln>
            <a:noFill/>
          </a:ln>
        </p:spPr>
      </p:pic>
      <p:pic>
        <p:nvPicPr>
          <p:cNvPr id="193" name="Google Shape;193;p24"/>
          <p:cNvPicPr preferRelativeResize="0"/>
          <p:nvPr/>
        </p:nvPicPr>
        <p:blipFill>
          <a:blip r:embed="rId5">
            <a:alphaModFix/>
          </a:blip>
          <a:stretch>
            <a:fillRect/>
          </a:stretch>
        </p:blipFill>
        <p:spPr>
          <a:xfrm>
            <a:off x="573150" y="2844650"/>
            <a:ext cx="2264825" cy="1564150"/>
          </a:xfrm>
          <a:prstGeom prst="rect">
            <a:avLst/>
          </a:prstGeom>
          <a:noFill/>
          <a:ln>
            <a:noFill/>
          </a:ln>
        </p:spPr>
      </p:pic>
      <p:pic>
        <p:nvPicPr>
          <p:cNvPr id="194" name="Google Shape;194;p24"/>
          <p:cNvPicPr preferRelativeResize="0"/>
          <p:nvPr/>
        </p:nvPicPr>
        <p:blipFill>
          <a:blip r:embed="rId6">
            <a:alphaModFix/>
          </a:blip>
          <a:stretch>
            <a:fillRect/>
          </a:stretch>
        </p:blipFill>
        <p:spPr>
          <a:xfrm>
            <a:off x="573150" y="1300750"/>
            <a:ext cx="2264825" cy="1518574"/>
          </a:xfrm>
          <a:prstGeom prst="rect">
            <a:avLst/>
          </a:prstGeom>
          <a:noFill/>
          <a:ln>
            <a:noFill/>
          </a:ln>
        </p:spPr>
      </p:pic>
      <p:sp>
        <p:nvSpPr>
          <p:cNvPr id="195" name="Google Shape;195;p24"/>
          <p:cNvSpPr txBox="1"/>
          <p:nvPr>
            <p:ph idx="1" type="body"/>
          </p:nvPr>
        </p:nvSpPr>
        <p:spPr>
          <a:xfrm>
            <a:off x="2837975" y="1364875"/>
            <a:ext cx="960600" cy="274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935"/>
              <a:buNone/>
            </a:pPr>
            <a:r>
              <a:rPr b="1" lang="en-GB" sz="795"/>
              <a:t>Goldman Sachs</a:t>
            </a:r>
            <a:endParaRPr b="1" sz="795"/>
          </a:p>
        </p:txBody>
      </p:sp>
      <p:sp>
        <p:nvSpPr>
          <p:cNvPr id="196" name="Google Shape;196;p24"/>
          <p:cNvSpPr txBox="1"/>
          <p:nvPr>
            <p:ph idx="1" type="body"/>
          </p:nvPr>
        </p:nvSpPr>
        <p:spPr>
          <a:xfrm>
            <a:off x="2837975" y="1722425"/>
            <a:ext cx="1781700" cy="598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GB" sz="695"/>
              <a:t>Presentation: Focus on “quarter,” “billion,” “revenues,” and “clients”—clear emphasis on financial performance and business growth.</a:t>
            </a:r>
            <a:endParaRPr sz="695"/>
          </a:p>
        </p:txBody>
      </p:sp>
      <p:sp>
        <p:nvSpPr>
          <p:cNvPr id="197" name="Google Shape;197;p24"/>
          <p:cNvSpPr txBox="1"/>
          <p:nvPr>
            <p:ph idx="1" type="body"/>
          </p:nvPr>
        </p:nvSpPr>
        <p:spPr>
          <a:xfrm>
            <a:off x="2837975" y="3075150"/>
            <a:ext cx="1935600" cy="535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GB" sz="695"/>
              <a:t>Q&amp;A: Most common words include “think,” “business,” and “capital,” highlighting a more dynamic and interactive conversation.</a:t>
            </a:r>
            <a:endParaRPr sz="695"/>
          </a:p>
        </p:txBody>
      </p:sp>
      <p:sp>
        <p:nvSpPr>
          <p:cNvPr id="198" name="Google Shape;198;p24"/>
          <p:cNvSpPr txBox="1"/>
          <p:nvPr>
            <p:ph idx="1" type="body"/>
          </p:nvPr>
        </p:nvSpPr>
        <p:spPr>
          <a:xfrm>
            <a:off x="7020250" y="1695438"/>
            <a:ext cx="1781700" cy="598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GB" sz="695"/>
              <a:t>Presentation: Top words are “year,” “billion,” “quarter,” and “net,” reflecting a strong financial reporting focus.</a:t>
            </a:r>
            <a:endParaRPr sz="695"/>
          </a:p>
        </p:txBody>
      </p:sp>
      <p:sp>
        <p:nvSpPr>
          <p:cNvPr id="199" name="Google Shape;199;p24"/>
          <p:cNvSpPr txBox="1"/>
          <p:nvPr>
            <p:ph idx="1" type="body"/>
          </p:nvPr>
        </p:nvSpPr>
        <p:spPr>
          <a:xfrm>
            <a:off x="7020250" y="3043638"/>
            <a:ext cx="1781700" cy="598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GB" sz="695"/>
              <a:t>Q&amp;A: Words like “think,” “going,” “good,” and “capital” dominate, showing conversational and responsive dialogue with analysts.</a:t>
            </a:r>
            <a:endParaRPr sz="695"/>
          </a:p>
        </p:txBody>
      </p:sp>
      <p:sp>
        <p:nvSpPr>
          <p:cNvPr id="200" name="Google Shape;200;p24"/>
          <p:cNvSpPr txBox="1"/>
          <p:nvPr>
            <p:ph idx="1" type="body"/>
          </p:nvPr>
        </p:nvSpPr>
        <p:spPr>
          <a:xfrm>
            <a:off x="7020250" y="1330150"/>
            <a:ext cx="960600" cy="274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935"/>
              <a:buNone/>
            </a:pPr>
            <a:r>
              <a:rPr b="1" lang="en-GB" sz="795"/>
              <a:t>JP Morgan</a:t>
            </a:r>
            <a:endParaRPr b="1" sz="795"/>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5"/>
          <p:cNvSpPr txBox="1"/>
          <p:nvPr>
            <p:ph type="title"/>
          </p:nvPr>
        </p:nvSpPr>
        <p:spPr>
          <a:xfrm>
            <a:off x="630925"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Role-Based Language &amp; Overlap</a:t>
            </a:r>
            <a:endParaRPr/>
          </a:p>
        </p:txBody>
      </p:sp>
      <p:sp>
        <p:nvSpPr>
          <p:cNvPr id="206" name="Google Shape;206;p2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07" name="Google Shape;207;p25"/>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
        <p:nvSpPr>
          <p:cNvPr id="208" name="Google Shape;208;p25"/>
          <p:cNvSpPr txBox="1"/>
          <p:nvPr>
            <p:ph idx="1" type="body"/>
          </p:nvPr>
        </p:nvSpPr>
        <p:spPr>
          <a:xfrm>
            <a:off x="2837975" y="1364875"/>
            <a:ext cx="960600" cy="274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935"/>
              <a:buNone/>
            </a:pPr>
            <a:r>
              <a:rPr b="1" lang="en-GB" sz="795"/>
              <a:t>Goldman Sachs</a:t>
            </a:r>
            <a:endParaRPr b="1" sz="795"/>
          </a:p>
        </p:txBody>
      </p:sp>
      <p:sp>
        <p:nvSpPr>
          <p:cNvPr id="209" name="Google Shape;209;p25"/>
          <p:cNvSpPr txBox="1"/>
          <p:nvPr>
            <p:ph idx="1" type="body"/>
          </p:nvPr>
        </p:nvSpPr>
        <p:spPr>
          <a:xfrm>
            <a:off x="2837975" y="1722425"/>
            <a:ext cx="1781700" cy="714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GB" sz="695"/>
              <a:t>Presentation: </a:t>
            </a:r>
            <a:r>
              <a:rPr lang="en-GB" sz="695"/>
              <a:t>The CEO uses the most unique terms, with moderate overlap with CFO. IR/Strategy’s unique word count is minimal, reinforcing their targeted participation.</a:t>
            </a:r>
            <a:endParaRPr sz="695"/>
          </a:p>
        </p:txBody>
      </p:sp>
      <p:sp>
        <p:nvSpPr>
          <p:cNvPr id="210" name="Google Shape;210;p25"/>
          <p:cNvSpPr txBox="1"/>
          <p:nvPr>
            <p:ph idx="1" type="body"/>
          </p:nvPr>
        </p:nvSpPr>
        <p:spPr>
          <a:xfrm>
            <a:off x="2837975" y="3075150"/>
            <a:ext cx="1935600" cy="744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GB" sz="695"/>
              <a:t>Q&amp;A: CEO and CFO roles share a significant portion of vocabulary, but each also uses a distinct set of words. IR/Strategy is the most specialized, with limited overlap—highlighting their distinct communication focus.</a:t>
            </a:r>
            <a:endParaRPr sz="695"/>
          </a:p>
        </p:txBody>
      </p:sp>
      <p:sp>
        <p:nvSpPr>
          <p:cNvPr id="211" name="Google Shape;211;p25"/>
          <p:cNvSpPr txBox="1"/>
          <p:nvPr>
            <p:ph idx="1" type="body"/>
          </p:nvPr>
        </p:nvSpPr>
        <p:spPr>
          <a:xfrm>
            <a:off x="7020250" y="1695450"/>
            <a:ext cx="1781700" cy="77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695"/>
              <a:t>Presentation: </a:t>
            </a:r>
            <a:r>
              <a:rPr lang="en-GB" sz="695"/>
              <a:t>The CFO dominates unique word usage, with only minimal overlap with CEO—showing the CFO’s central role in prepared management discussions.</a:t>
            </a:r>
            <a:br>
              <a:rPr lang="en-GB" sz="695"/>
            </a:br>
            <a:endParaRPr sz="695"/>
          </a:p>
          <a:p>
            <a:pPr indent="0" lvl="0" marL="0" rtl="0" algn="l">
              <a:spcBef>
                <a:spcPts val="1200"/>
              </a:spcBef>
              <a:spcAft>
                <a:spcPts val="1200"/>
              </a:spcAft>
              <a:buNone/>
            </a:pPr>
            <a:r>
              <a:t/>
            </a:r>
            <a:endParaRPr sz="695"/>
          </a:p>
        </p:txBody>
      </p:sp>
      <p:sp>
        <p:nvSpPr>
          <p:cNvPr id="212" name="Google Shape;212;p25"/>
          <p:cNvSpPr txBox="1"/>
          <p:nvPr>
            <p:ph idx="1" type="body"/>
          </p:nvPr>
        </p:nvSpPr>
        <p:spPr>
          <a:xfrm>
            <a:off x="7020250" y="3043653"/>
            <a:ext cx="1781700" cy="744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GB" sz="695"/>
              <a:t>Q&amp;A: </a:t>
            </a:r>
            <a:r>
              <a:rPr lang="en-GB" sz="695"/>
              <a:t>Analyst, CFO, and CEO all share a large common vocabulary, but each group brings substantial unique language. Analysts especially contribute diverse terminology, reflecting varied questions.</a:t>
            </a:r>
            <a:endParaRPr sz="695"/>
          </a:p>
        </p:txBody>
      </p:sp>
      <p:sp>
        <p:nvSpPr>
          <p:cNvPr id="213" name="Google Shape;213;p25"/>
          <p:cNvSpPr txBox="1"/>
          <p:nvPr>
            <p:ph idx="1" type="body"/>
          </p:nvPr>
        </p:nvSpPr>
        <p:spPr>
          <a:xfrm>
            <a:off x="7020250" y="1330150"/>
            <a:ext cx="960600" cy="274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935"/>
              <a:buNone/>
            </a:pPr>
            <a:r>
              <a:rPr b="1" lang="en-GB" sz="795"/>
              <a:t>JP Morgan</a:t>
            </a:r>
            <a:endParaRPr b="1" sz="795"/>
          </a:p>
        </p:txBody>
      </p:sp>
      <p:pic>
        <p:nvPicPr>
          <p:cNvPr id="214" name="Google Shape;214;p25"/>
          <p:cNvPicPr preferRelativeResize="0"/>
          <p:nvPr/>
        </p:nvPicPr>
        <p:blipFill>
          <a:blip r:embed="rId3">
            <a:alphaModFix/>
          </a:blip>
          <a:stretch>
            <a:fillRect/>
          </a:stretch>
        </p:blipFill>
        <p:spPr>
          <a:xfrm>
            <a:off x="669650" y="3043650"/>
            <a:ext cx="2015924" cy="1652812"/>
          </a:xfrm>
          <a:prstGeom prst="rect">
            <a:avLst/>
          </a:prstGeom>
          <a:noFill/>
          <a:ln>
            <a:noFill/>
          </a:ln>
        </p:spPr>
      </p:pic>
      <p:pic>
        <p:nvPicPr>
          <p:cNvPr id="215" name="Google Shape;215;p25"/>
          <p:cNvPicPr preferRelativeResize="0"/>
          <p:nvPr/>
        </p:nvPicPr>
        <p:blipFill>
          <a:blip r:embed="rId4">
            <a:alphaModFix/>
          </a:blip>
          <a:stretch>
            <a:fillRect/>
          </a:stretch>
        </p:blipFill>
        <p:spPr>
          <a:xfrm>
            <a:off x="689150" y="1295475"/>
            <a:ext cx="2015925" cy="1704100"/>
          </a:xfrm>
          <a:prstGeom prst="rect">
            <a:avLst/>
          </a:prstGeom>
          <a:noFill/>
          <a:ln>
            <a:noFill/>
          </a:ln>
        </p:spPr>
      </p:pic>
      <p:pic>
        <p:nvPicPr>
          <p:cNvPr id="216" name="Google Shape;216;p25"/>
          <p:cNvPicPr preferRelativeResize="0"/>
          <p:nvPr/>
        </p:nvPicPr>
        <p:blipFill>
          <a:blip r:embed="rId5">
            <a:alphaModFix/>
          </a:blip>
          <a:stretch>
            <a:fillRect/>
          </a:stretch>
        </p:blipFill>
        <p:spPr>
          <a:xfrm>
            <a:off x="5082738" y="2891400"/>
            <a:ext cx="1885850" cy="1900575"/>
          </a:xfrm>
          <a:prstGeom prst="rect">
            <a:avLst/>
          </a:prstGeom>
          <a:noFill/>
          <a:ln>
            <a:noFill/>
          </a:ln>
        </p:spPr>
      </p:pic>
      <p:pic>
        <p:nvPicPr>
          <p:cNvPr id="217" name="Google Shape;217;p25"/>
          <p:cNvPicPr preferRelativeResize="0"/>
          <p:nvPr/>
        </p:nvPicPr>
        <p:blipFill>
          <a:blip r:embed="rId6">
            <a:alphaModFix/>
          </a:blip>
          <a:stretch>
            <a:fillRect/>
          </a:stretch>
        </p:blipFill>
        <p:spPr>
          <a:xfrm>
            <a:off x="5178750" y="1295475"/>
            <a:ext cx="1693837" cy="15959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6"/>
          <p:cNvSpPr txBox="1"/>
          <p:nvPr>
            <p:ph type="title"/>
          </p:nvPr>
        </p:nvSpPr>
        <p:spPr>
          <a:xfrm>
            <a:off x="7294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Content Length by Role</a:t>
            </a:r>
            <a:endParaRPr/>
          </a:p>
        </p:txBody>
      </p:sp>
      <p:sp>
        <p:nvSpPr>
          <p:cNvPr id="223" name="Google Shape;223;p2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24" name="Google Shape;224;p26"/>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
        <p:nvSpPr>
          <p:cNvPr id="225" name="Google Shape;225;p26"/>
          <p:cNvSpPr txBox="1"/>
          <p:nvPr>
            <p:ph idx="1" type="body"/>
          </p:nvPr>
        </p:nvSpPr>
        <p:spPr>
          <a:xfrm>
            <a:off x="299700" y="3448563"/>
            <a:ext cx="4272300" cy="1252200"/>
          </a:xfrm>
          <a:prstGeom prst="rect">
            <a:avLst/>
          </a:prstGeom>
        </p:spPr>
        <p:txBody>
          <a:bodyPr anchorCtr="0" anchor="t" bIns="91425" lIns="91425" spcFirstLastPara="1" rIns="91425" wrap="square" tIns="91425">
            <a:noAutofit/>
          </a:bodyPr>
          <a:lstStyle/>
          <a:p>
            <a:pPr indent="-127782" lvl="0" marL="89999" rtl="0" algn="l">
              <a:spcBef>
                <a:spcPts val="0"/>
              </a:spcBef>
              <a:spcAft>
                <a:spcPts val="0"/>
              </a:spcAft>
              <a:buSzPts val="595"/>
              <a:buChar char="-"/>
            </a:pPr>
            <a:r>
              <a:rPr lang="en-GB" sz="595"/>
              <a:t>Goldman Sachs analysts tend to ask longer, more detailed questions than those at JP Morgan, peaking around 500 characters on average.</a:t>
            </a:r>
            <a:endParaRPr sz="595"/>
          </a:p>
          <a:p>
            <a:pPr indent="-127782" lvl="0" marL="89999" rtl="0" algn="l">
              <a:spcBef>
                <a:spcPts val="0"/>
              </a:spcBef>
              <a:spcAft>
                <a:spcPts val="0"/>
              </a:spcAft>
              <a:buSzPts val="595"/>
              <a:buChar char="-"/>
            </a:pPr>
            <a:r>
              <a:rPr lang="en-GB" sz="595"/>
              <a:t>A smaller peak at 50 characters still reflects some use of short or filler content, though it's less dominant than at JP Morgan.</a:t>
            </a:r>
            <a:endParaRPr sz="595"/>
          </a:p>
          <a:p>
            <a:pPr indent="-127782" lvl="0" marL="89999" rtl="0" algn="l">
              <a:spcBef>
                <a:spcPts val="0"/>
              </a:spcBef>
              <a:spcAft>
                <a:spcPts val="0"/>
              </a:spcAft>
              <a:buSzPts val="595"/>
              <a:buChar char="-"/>
            </a:pPr>
            <a:r>
              <a:rPr lang="en-GB" sz="595"/>
              <a:t>This contributes to Goldman Sachs’ higher average analyst question length (407.21 vs. 273.18 characters).</a:t>
            </a:r>
            <a:endParaRPr sz="595"/>
          </a:p>
          <a:p>
            <a:pPr indent="-127782" lvl="0" marL="89999" rtl="0" algn="l">
              <a:spcBef>
                <a:spcPts val="0"/>
              </a:spcBef>
              <a:spcAft>
                <a:spcPts val="0"/>
              </a:spcAft>
              <a:buSzPts val="595"/>
              <a:buChar char="-"/>
            </a:pPr>
            <a:r>
              <a:rPr lang="en-GB" sz="595"/>
              <a:t>The CEO at Goldman Sachs delivers consistently detailed responses, peaking around 1200 characters and extending up to 3500, surpassing both their own CFO and JPM’s CEO in length.</a:t>
            </a:r>
            <a:endParaRPr sz="595"/>
          </a:p>
          <a:p>
            <a:pPr indent="-127782" lvl="0" marL="89999" rtl="0" algn="l">
              <a:spcBef>
                <a:spcPts val="0"/>
              </a:spcBef>
              <a:spcAft>
                <a:spcPts val="0"/>
              </a:spcAft>
              <a:buSzPts val="595"/>
              <a:buChar char="-"/>
            </a:pPr>
            <a:r>
              <a:rPr lang="en-GB" sz="595"/>
              <a:t>The CFO tends to be more concise, clustering around 800 characters with a sharper focus and shorter tail (ending near 2100 characters).</a:t>
            </a:r>
            <a:endParaRPr sz="595"/>
          </a:p>
          <a:p>
            <a:pPr indent="-127782" lvl="0" marL="89999" rtl="0" algn="l">
              <a:spcBef>
                <a:spcPts val="0"/>
              </a:spcBef>
              <a:spcAft>
                <a:spcPts val="0"/>
              </a:spcAft>
              <a:buSzPts val="595"/>
              <a:buChar char="-"/>
            </a:pPr>
            <a:r>
              <a:rPr lang="en-GB" sz="595"/>
              <a:t>Overall, Goldman Sachs’ leadership shows a clear division of communicative roles, with the CEO offering in-depth strategic insights and the CFO delivering focused operational responses.</a:t>
            </a:r>
            <a:endParaRPr sz="595"/>
          </a:p>
        </p:txBody>
      </p:sp>
      <p:sp>
        <p:nvSpPr>
          <p:cNvPr id="226" name="Google Shape;226;p26"/>
          <p:cNvSpPr txBox="1"/>
          <p:nvPr>
            <p:ph idx="1" type="body"/>
          </p:nvPr>
        </p:nvSpPr>
        <p:spPr>
          <a:xfrm>
            <a:off x="646600" y="1209589"/>
            <a:ext cx="1288200" cy="324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935"/>
              <a:buNone/>
            </a:pPr>
            <a:r>
              <a:rPr b="1" lang="en-GB" sz="895"/>
              <a:t>Goldman Sachs</a:t>
            </a:r>
            <a:endParaRPr b="1" sz="895"/>
          </a:p>
        </p:txBody>
      </p:sp>
      <p:sp>
        <p:nvSpPr>
          <p:cNvPr id="227" name="Google Shape;227;p26"/>
          <p:cNvSpPr txBox="1"/>
          <p:nvPr>
            <p:ph idx="1" type="body"/>
          </p:nvPr>
        </p:nvSpPr>
        <p:spPr>
          <a:xfrm>
            <a:off x="4746950" y="1209589"/>
            <a:ext cx="1288200" cy="324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935"/>
              <a:buNone/>
            </a:pPr>
            <a:r>
              <a:rPr b="1" lang="en-GB" sz="895"/>
              <a:t>JP Morgan</a:t>
            </a:r>
            <a:endParaRPr b="1" sz="895"/>
          </a:p>
        </p:txBody>
      </p:sp>
      <p:pic>
        <p:nvPicPr>
          <p:cNvPr id="228" name="Google Shape;228;p26"/>
          <p:cNvPicPr preferRelativeResize="0"/>
          <p:nvPr/>
        </p:nvPicPr>
        <p:blipFill>
          <a:blip r:embed="rId3">
            <a:alphaModFix/>
          </a:blip>
          <a:stretch>
            <a:fillRect/>
          </a:stretch>
        </p:blipFill>
        <p:spPr>
          <a:xfrm>
            <a:off x="4663825" y="1469288"/>
            <a:ext cx="3687284" cy="1963900"/>
          </a:xfrm>
          <a:prstGeom prst="rect">
            <a:avLst/>
          </a:prstGeom>
          <a:noFill/>
          <a:ln>
            <a:noFill/>
          </a:ln>
        </p:spPr>
      </p:pic>
      <p:pic>
        <p:nvPicPr>
          <p:cNvPr id="229" name="Google Shape;229;p26"/>
          <p:cNvPicPr preferRelativeResize="0"/>
          <p:nvPr/>
        </p:nvPicPr>
        <p:blipFill>
          <a:blip r:embed="rId4">
            <a:alphaModFix/>
          </a:blip>
          <a:stretch>
            <a:fillRect/>
          </a:stretch>
        </p:blipFill>
        <p:spPr>
          <a:xfrm>
            <a:off x="729450" y="1484663"/>
            <a:ext cx="3687300" cy="1963900"/>
          </a:xfrm>
          <a:prstGeom prst="rect">
            <a:avLst/>
          </a:prstGeom>
          <a:noFill/>
          <a:ln>
            <a:noFill/>
          </a:ln>
        </p:spPr>
      </p:pic>
      <p:sp>
        <p:nvSpPr>
          <p:cNvPr id="230" name="Google Shape;230;p26"/>
          <p:cNvSpPr txBox="1"/>
          <p:nvPr>
            <p:ph idx="1" type="body"/>
          </p:nvPr>
        </p:nvSpPr>
        <p:spPr>
          <a:xfrm>
            <a:off x="4572000" y="3480025"/>
            <a:ext cx="4272300" cy="921000"/>
          </a:xfrm>
          <a:prstGeom prst="rect">
            <a:avLst/>
          </a:prstGeom>
        </p:spPr>
        <p:txBody>
          <a:bodyPr anchorCtr="0" anchor="t" bIns="91425" lIns="91425" spcFirstLastPara="1" rIns="91425" wrap="square" tIns="91425">
            <a:noAutofit/>
          </a:bodyPr>
          <a:lstStyle/>
          <a:p>
            <a:pPr indent="-127782" lvl="0" marL="89999" rtl="0" algn="l">
              <a:spcBef>
                <a:spcPts val="0"/>
              </a:spcBef>
              <a:spcAft>
                <a:spcPts val="0"/>
              </a:spcAft>
              <a:buSzPts val="595"/>
              <a:buChar char="-"/>
            </a:pPr>
            <a:r>
              <a:rPr lang="en-GB" sz="595"/>
              <a:t>Analysts mostly ask very short questions, often consisting of greetings or acknowledgments, with a peak at 50 characters.</a:t>
            </a:r>
            <a:endParaRPr sz="595"/>
          </a:p>
          <a:p>
            <a:pPr indent="-127782" lvl="0" marL="89999" rtl="0" algn="l">
              <a:spcBef>
                <a:spcPts val="0"/>
              </a:spcBef>
              <a:spcAft>
                <a:spcPts val="0"/>
              </a:spcAft>
              <a:buSzPts val="595"/>
              <a:buChar char="-"/>
            </a:pPr>
            <a:r>
              <a:rPr lang="en-GB" sz="595"/>
              <a:t>A smaller secondary peak near 500 characters points to some multi-part or more detailed questions.</a:t>
            </a:r>
            <a:endParaRPr sz="595"/>
          </a:p>
          <a:p>
            <a:pPr indent="-127782" lvl="0" marL="89999" rtl="0" algn="l">
              <a:spcBef>
                <a:spcPts val="0"/>
              </a:spcBef>
              <a:spcAft>
                <a:spcPts val="0"/>
              </a:spcAft>
              <a:buSzPts val="595"/>
              <a:buChar char="-"/>
            </a:pPr>
            <a:r>
              <a:rPr lang="en-GB" sz="595"/>
              <a:t>The high volume of non-substantive content suggests preprocessing could help isolate meaningful analyst input.</a:t>
            </a:r>
            <a:endParaRPr sz="595"/>
          </a:p>
          <a:p>
            <a:pPr indent="-127782" lvl="0" marL="89999" rtl="0" algn="l">
              <a:spcBef>
                <a:spcPts val="0"/>
              </a:spcBef>
              <a:spcAft>
                <a:spcPts val="0"/>
              </a:spcAft>
              <a:buSzPts val="595"/>
              <a:buChar char="-"/>
            </a:pPr>
            <a:r>
              <a:rPr lang="en-GB" sz="595"/>
              <a:t>The CFO tends to be concise but can deliver in-depth responses, with a long tail stretching to 4700 characters.</a:t>
            </a:r>
            <a:endParaRPr sz="595"/>
          </a:p>
          <a:p>
            <a:pPr indent="-127782" lvl="0" marL="89999" rtl="0" algn="l">
              <a:spcBef>
                <a:spcPts val="0"/>
              </a:spcBef>
              <a:spcAft>
                <a:spcPts val="0"/>
              </a:spcAft>
              <a:buSzPts val="595"/>
              <a:buChar char="-"/>
            </a:pPr>
            <a:r>
              <a:rPr lang="en-GB" sz="595"/>
              <a:t>The CEO also provides concise answers but has a shorter response limit (up to 3100 characters), indicating a preference for strategic summaries over exhaustive detail.</a:t>
            </a:r>
            <a:endParaRPr sz="595"/>
          </a:p>
          <a:p>
            <a:pPr indent="-127782" lvl="0" marL="89999" rtl="0" algn="l">
              <a:spcBef>
                <a:spcPts val="0"/>
              </a:spcBef>
              <a:spcAft>
                <a:spcPts val="0"/>
              </a:spcAft>
              <a:buSzPts val="595"/>
              <a:buChar char="-"/>
            </a:pPr>
            <a:r>
              <a:rPr lang="en-GB" sz="595"/>
              <a:t>These patterns imply distinct communication roles: analysts for brevity and social cues, CFOs for operational depth, and CEOs for strategic clarity.</a:t>
            </a:r>
            <a:endParaRPr sz="595"/>
          </a:p>
        </p:txBody>
      </p:sp>
      <p:sp>
        <p:nvSpPr>
          <p:cNvPr id="231" name="Google Shape;231;p26"/>
          <p:cNvSpPr txBox="1"/>
          <p:nvPr>
            <p:ph idx="1" type="body"/>
          </p:nvPr>
        </p:nvSpPr>
        <p:spPr>
          <a:xfrm>
            <a:off x="394650" y="3263575"/>
            <a:ext cx="1288200" cy="274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935"/>
              <a:buNone/>
            </a:pPr>
            <a:r>
              <a:rPr b="1" lang="en-GB" sz="795"/>
              <a:t>Goldman Sachs:</a:t>
            </a:r>
            <a:endParaRPr b="1" sz="795"/>
          </a:p>
        </p:txBody>
      </p:sp>
      <p:sp>
        <p:nvSpPr>
          <p:cNvPr id="232" name="Google Shape;232;p26"/>
          <p:cNvSpPr txBox="1"/>
          <p:nvPr>
            <p:ph idx="1" type="body"/>
          </p:nvPr>
        </p:nvSpPr>
        <p:spPr>
          <a:xfrm>
            <a:off x="4572000" y="3263575"/>
            <a:ext cx="1288200" cy="274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935"/>
              <a:buNone/>
            </a:pPr>
            <a:r>
              <a:rPr b="1" lang="en-GB" sz="795"/>
              <a:t>JP Morgan</a:t>
            </a:r>
            <a:endParaRPr b="1" sz="795"/>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Conclusion</a:t>
            </a:r>
            <a:endParaRPr/>
          </a:p>
        </p:txBody>
      </p:sp>
      <p:sp>
        <p:nvSpPr>
          <p:cNvPr id="238" name="Google Shape;238;p27"/>
          <p:cNvSpPr txBox="1"/>
          <p:nvPr>
            <p:ph idx="1" type="body"/>
          </p:nvPr>
        </p:nvSpPr>
        <p:spPr>
          <a:xfrm>
            <a:off x="729450" y="1914650"/>
            <a:ext cx="7688700" cy="2261100"/>
          </a:xfrm>
          <a:prstGeom prst="rect">
            <a:avLst/>
          </a:prstGeom>
        </p:spPr>
        <p:txBody>
          <a:bodyPr anchorCtr="0" anchor="t" bIns="91425" lIns="91425" spcFirstLastPara="1" rIns="91425" wrap="square" tIns="91425">
            <a:noAutofit/>
          </a:bodyPr>
          <a:lstStyle/>
          <a:p>
            <a:pPr indent="0" lvl="0" marL="0" rtl="0" algn="just">
              <a:lnSpc>
                <a:spcPct val="100000"/>
              </a:lnSpc>
              <a:spcBef>
                <a:spcPts val="0"/>
              </a:spcBef>
              <a:spcAft>
                <a:spcPts val="0"/>
              </a:spcAft>
              <a:buNone/>
            </a:pPr>
            <a:r>
              <a:rPr lang="en-GB" sz="1407"/>
              <a:t>In summary, this EDA confirms that simply analyzing raw text is insufficient. By segmenting data by speaker role and scrutinizing communication patterns like content length and specific vocabulary, we can extract far more meaningful and actionable intelligence from complex financial disclosures. These insights will directly inform the development of advanced NLP models and Large Language Models (LLMs) in the next phases of this project, enabling more precise information extraction, topic modeling, and sentiment analysis to further enhance the Bank of England's risk assessment capabilities.</a:t>
            </a:r>
            <a:endParaRPr sz="1407"/>
          </a:p>
        </p:txBody>
      </p:sp>
      <p:sp>
        <p:nvSpPr>
          <p:cNvPr id="239" name="Google Shape;239;p2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40" name="Google Shape;240;p27"/>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8"/>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Key Insight 1: Nuanced Sentiment – Divergence &amp; Subtlety</a:t>
            </a:r>
            <a:endParaRPr/>
          </a:p>
        </p:txBody>
      </p:sp>
      <p:sp>
        <p:nvSpPr>
          <p:cNvPr id="246" name="Google Shape;246;p2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47" name="Google Shape;247;p28"/>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Objectives</a:t>
            </a:r>
            <a:endParaRPr/>
          </a:p>
        </p:txBody>
      </p:sp>
      <p:sp>
        <p:nvSpPr>
          <p:cNvPr id="253" name="Google Shape;253;p29"/>
          <p:cNvSpPr txBox="1"/>
          <p:nvPr>
            <p:ph idx="1" type="body"/>
          </p:nvPr>
        </p:nvSpPr>
        <p:spPr>
          <a:xfrm>
            <a:off x="729450" y="2078875"/>
            <a:ext cx="7688700" cy="2243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Examine </a:t>
            </a:r>
            <a:r>
              <a:rPr lang="en-GB"/>
              <a:t>overall tone of conversations during earning calls</a:t>
            </a:r>
            <a:endParaRPr/>
          </a:p>
          <a:p>
            <a:pPr indent="-311150" lvl="0" marL="457200" rtl="0" algn="l">
              <a:spcBef>
                <a:spcPts val="0"/>
              </a:spcBef>
              <a:spcAft>
                <a:spcPts val="0"/>
              </a:spcAft>
              <a:buSzPts val="1300"/>
              <a:buChar char="●"/>
            </a:pPr>
            <a:r>
              <a:rPr lang="en-GB"/>
              <a:t>Provides a structured view of diverging sentiment dynamics sessions and</a:t>
            </a:r>
            <a:endParaRPr/>
          </a:p>
          <a:p>
            <a:pPr indent="-311150" lvl="0" marL="457200" rtl="0" algn="l">
              <a:spcBef>
                <a:spcPts val="0"/>
              </a:spcBef>
              <a:spcAft>
                <a:spcPts val="0"/>
              </a:spcAft>
              <a:buSzPts val="1300"/>
              <a:buChar char="●"/>
            </a:pPr>
            <a:r>
              <a:rPr lang="en-GB"/>
              <a:t>Summarize all instances of sentiment divergence </a:t>
            </a:r>
            <a:r>
              <a:rPr lang="en-GB"/>
              <a:t>in earnings call Q&amp;A between </a:t>
            </a:r>
            <a:r>
              <a:rPr lang="en-GB"/>
              <a:t>analysts and management </a:t>
            </a:r>
            <a:endParaRPr/>
          </a:p>
          <a:p>
            <a:pPr indent="-311150" lvl="0" marL="457200" rtl="0" algn="l">
              <a:spcBef>
                <a:spcPts val="0"/>
              </a:spcBef>
              <a:spcAft>
                <a:spcPts val="0"/>
              </a:spcAft>
              <a:buSzPts val="1300"/>
              <a:buChar char="●"/>
            </a:pPr>
            <a:r>
              <a:rPr lang="en-GB"/>
              <a:t>Provide explanations of the underlying mismatch in perspective. </a:t>
            </a:r>
            <a:endParaRPr/>
          </a:p>
          <a:p>
            <a:pPr indent="-311150" lvl="0" marL="457200" rtl="0" algn="l">
              <a:spcBef>
                <a:spcPts val="0"/>
              </a:spcBef>
              <a:spcAft>
                <a:spcPts val="0"/>
              </a:spcAft>
              <a:buSzPts val="1300"/>
              <a:buChar char="●"/>
            </a:pPr>
            <a:r>
              <a:rPr lang="en-GB"/>
              <a:t>Support PRA analysts by highlighting areas of potential concern or disconnect.</a:t>
            </a:r>
            <a:endParaRPr/>
          </a:p>
        </p:txBody>
      </p:sp>
      <p:sp>
        <p:nvSpPr>
          <p:cNvPr id="254" name="Google Shape;254;p2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55" name="Google Shape;255;p29"/>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Methodology</a:t>
            </a:r>
            <a:endParaRPr/>
          </a:p>
        </p:txBody>
      </p:sp>
      <p:sp>
        <p:nvSpPr>
          <p:cNvPr id="261" name="Google Shape;261;p3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62" name="Google Shape;262;p30"/>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
        <p:nvSpPr>
          <p:cNvPr id="263" name="Google Shape;263;p30"/>
          <p:cNvSpPr/>
          <p:nvPr/>
        </p:nvSpPr>
        <p:spPr>
          <a:xfrm>
            <a:off x="653250" y="2666600"/>
            <a:ext cx="1790100" cy="937500"/>
          </a:xfrm>
          <a:prstGeom prst="homePlat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chemeClr val="lt1"/>
                </a:solidFill>
                <a:latin typeface="Raleway"/>
                <a:ea typeface="Raleway"/>
                <a:cs typeface="Raleway"/>
                <a:sym typeface="Raleway"/>
              </a:rPr>
              <a:t>Preprocessing</a:t>
            </a:r>
            <a:endParaRPr b="1" sz="1200">
              <a:solidFill>
                <a:srgbClr val="FFFFFF"/>
              </a:solidFill>
              <a:latin typeface="Raleway"/>
              <a:ea typeface="Raleway"/>
              <a:cs typeface="Raleway"/>
              <a:sym typeface="Raleway"/>
            </a:endParaRPr>
          </a:p>
        </p:txBody>
      </p:sp>
      <p:sp>
        <p:nvSpPr>
          <p:cNvPr id="264" name="Google Shape;264;p30"/>
          <p:cNvSpPr/>
          <p:nvPr/>
        </p:nvSpPr>
        <p:spPr>
          <a:xfrm>
            <a:off x="2064375" y="2666600"/>
            <a:ext cx="2052600" cy="937500"/>
          </a:xfrm>
          <a:prstGeom prst="chevron">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200">
                <a:solidFill>
                  <a:schemeClr val="lt1"/>
                </a:solidFill>
                <a:latin typeface="Raleway"/>
                <a:ea typeface="Raleway"/>
                <a:cs typeface="Raleway"/>
                <a:sym typeface="Raleway"/>
              </a:rPr>
              <a:t>Traditional Sentiment Analysis</a:t>
            </a:r>
            <a:endParaRPr b="1" sz="1200">
              <a:solidFill>
                <a:srgbClr val="FFFFFF"/>
              </a:solidFill>
              <a:latin typeface="Raleway"/>
              <a:ea typeface="Raleway"/>
              <a:cs typeface="Raleway"/>
              <a:sym typeface="Raleway"/>
            </a:endParaRPr>
          </a:p>
        </p:txBody>
      </p:sp>
      <p:sp>
        <p:nvSpPr>
          <p:cNvPr id="265" name="Google Shape;265;p30"/>
          <p:cNvSpPr/>
          <p:nvPr/>
        </p:nvSpPr>
        <p:spPr>
          <a:xfrm>
            <a:off x="3738000" y="2666600"/>
            <a:ext cx="1872600" cy="937500"/>
          </a:xfrm>
          <a:prstGeom prst="chevron">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200">
                <a:solidFill>
                  <a:srgbClr val="FFFFFF"/>
                </a:solidFill>
                <a:latin typeface="Raleway"/>
                <a:ea typeface="Raleway"/>
                <a:cs typeface="Raleway"/>
                <a:sym typeface="Raleway"/>
              </a:rPr>
              <a:t>Q &amp; A Pair Grouping</a:t>
            </a:r>
            <a:endParaRPr b="1" sz="1200">
              <a:solidFill>
                <a:srgbClr val="FFFFFF"/>
              </a:solidFill>
              <a:latin typeface="Raleway"/>
              <a:ea typeface="Raleway"/>
              <a:cs typeface="Raleway"/>
              <a:sym typeface="Raleway"/>
            </a:endParaRPr>
          </a:p>
        </p:txBody>
      </p:sp>
      <p:sp>
        <p:nvSpPr>
          <p:cNvPr id="266" name="Google Shape;266;p30"/>
          <p:cNvSpPr/>
          <p:nvPr/>
        </p:nvSpPr>
        <p:spPr>
          <a:xfrm>
            <a:off x="6725250" y="2666600"/>
            <a:ext cx="1872600" cy="937500"/>
          </a:xfrm>
          <a:prstGeom prst="chevron">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GB" sz="1200">
                <a:solidFill>
                  <a:srgbClr val="FFFFFF"/>
                </a:solidFill>
                <a:latin typeface="Raleway"/>
                <a:ea typeface="Raleway"/>
                <a:cs typeface="Raleway"/>
                <a:sym typeface="Raleway"/>
              </a:rPr>
              <a:t>Outcome Reporting</a:t>
            </a:r>
            <a:endParaRPr b="1" sz="1200">
              <a:solidFill>
                <a:srgbClr val="FFFFFF"/>
              </a:solidFill>
              <a:latin typeface="Raleway"/>
              <a:ea typeface="Raleway"/>
              <a:cs typeface="Raleway"/>
              <a:sym typeface="Raleway"/>
            </a:endParaRPr>
          </a:p>
        </p:txBody>
      </p:sp>
      <p:sp>
        <p:nvSpPr>
          <p:cNvPr id="267" name="Google Shape;267;p30"/>
          <p:cNvSpPr/>
          <p:nvPr/>
        </p:nvSpPr>
        <p:spPr>
          <a:xfrm>
            <a:off x="5231625" y="2666600"/>
            <a:ext cx="1872600" cy="937500"/>
          </a:xfrm>
          <a:prstGeom prst="chevron">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FFFFFF"/>
                </a:solidFill>
                <a:latin typeface="Raleway"/>
                <a:ea typeface="Raleway"/>
                <a:cs typeface="Raleway"/>
                <a:sym typeface="Raleway"/>
              </a:rPr>
              <a:t>Phi-4 mini instruct</a:t>
            </a:r>
            <a:endParaRPr b="1" sz="1200">
              <a:solidFill>
                <a:srgbClr val="FFFFFF"/>
              </a:solidFill>
              <a:latin typeface="Raleway"/>
              <a:ea typeface="Raleway"/>
              <a:cs typeface="Raleway"/>
              <a:sym typeface="Raleway"/>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 LLM Driven Analysis</a:t>
            </a:r>
            <a:endParaRPr/>
          </a:p>
        </p:txBody>
      </p:sp>
      <p:sp>
        <p:nvSpPr>
          <p:cNvPr id="273" name="Google Shape;273;p31"/>
          <p:cNvSpPr txBox="1"/>
          <p:nvPr>
            <p:ph idx="1" type="body"/>
          </p:nvPr>
        </p:nvSpPr>
        <p:spPr>
          <a:xfrm>
            <a:off x="729450" y="2078875"/>
            <a:ext cx="7806900" cy="2422200"/>
          </a:xfrm>
          <a:prstGeom prst="rect">
            <a:avLst/>
          </a:prstGeom>
        </p:spPr>
        <p:txBody>
          <a:bodyPr anchorCtr="0" anchor="t" bIns="91425" lIns="91425" spcFirstLastPara="1" rIns="91425" wrap="square" tIns="91425">
            <a:normAutofit/>
          </a:bodyPr>
          <a:lstStyle/>
          <a:p>
            <a:pPr indent="-304800" lvl="0" marL="457200" rtl="0" algn="l">
              <a:lnSpc>
                <a:spcPct val="125454"/>
              </a:lnSpc>
              <a:spcBef>
                <a:spcPts val="0"/>
              </a:spcBef>
              <a:spcAft>
                <a:spcPts val="0"/>
              </a:spcAft>
              <a:buClr>
                <a:srgbClr val="000000"/>
              </a:buClr>
              <a:buSzPts val="1200"/>
              <a:buFont typeface="Arial"/>
              <a:buChar char="●"/>
            </a:pPr>
            <a:r>
              <a:rPr b="1" lang="en-GB" sz="1200">
                <a:solidFill>
                  <a:srgbClr val="000000"/>
                </a:solidFill>
              </a:rPr>
              <a:t>Regulatory Persona: </a:t>
            </a:r>
            <a:r>
              <a:rPr lang="en-GB" sz="1200">
                <a:solidFill>
                  <a:srgbClr val="000000"/>
                </a:solidFill>
              </a:rPr>
              <a:t>LLM is framed as a financial assistant to a banking regulator (PRA), ensuring alignment with supervisory priorities.</a:t>
            </a:r>
            <a:endParaRPr sz="1200">
              <a:solidFill>
                <a:srgbClr val="000000"/>
              </a:solidFill>
            </a:endParaRPr>
          </a:p>
          <a:p>
            <a:pPr indent="-304800" lvl="0" marL="457200" rtl="0" algn="l">
              <a:lnSpc>
                <a:spcPct val="125454"/>
              </a:lnSpc>
              <a:spcBef>
                <a:spcPts val="0"/>
              </a:spcBef>
              <a:spcAft>
                <a:spcPts val="0"/>
              </a:spcAft>
              <a:buClr>
                <a:srgbClr val="000000"/>
              </a:buClr>
              <a:buSzPts val="1200"/>
              <a:buFont typeface="Arial"/>
              <a:buChar char="●"/>
            </a:pPr>
            <a:r>
              <a:rPr b="1" lang="en-GB" sz="1200">
                <a:solidFill>
                  <a:srgbClr val="000000"/>
                </a:solidFill>
              </a:rPr>
              <a:t>Prompt Template: </a:t>
            </a:r>
            <a:r>
              <a:rPr lang="en-GB" sz="1200">
                <a:solidFill>
                  <a:srgbClr val="000000"/>
                </a:solidFill>
              </a:rPr>
              <a:t>Structured Q&amp;A prompts guide the model to explain sentiment differences and highlight potential risk areas in 1–2 sentences.</a:t>
            </a:r>
            <a:endParaRPr sz="1200">
              <a:solidFill>
                <a:srgbClr val="000000"/>
              </a:solidFill>
            </a:endParaRPr>
          </a:p>
          <a:p>
            <a:pPr indent="-304800" lvl="0" marL="457200" rtl="0" algn="l">
              <a:lnSpc>
                <a:spcPct val="125454"/>
              </a:lnSpc>
              <a:spcBef>
                <a:spcPts val="0"/>
              </a:spcBef>
              <a:spcAft>
                <a:spcPts val="0"/>
              </a:spcAft>
              <a:buClr>
                <a:srgbClr val="000000"/>
              </a:buClr>
              <a:buSzPts val="1200"/>
              <a:buFont typeface="Arial"/>
              <a:buChar char="●"/>
            </a:pPr>
            <a:r>
              <a:rPr b="1" lang="en-GB" sz="1200">
                <a:solidFill>
                  <a:srgbClr val="000000"/>
                </a:solidFill>
              </a:rPr>
              <a:t>Targeted Extraction: </a:t>
            </a:r>
            <a:r>
              <a:rPr lang="en-GB" sz="1200">
                <a:solidFill>
                  <a:srgbClr val="000000"/>
                </a:solidFill>
              </a:rPr>
              <a:t>A pipeline pairs analyst questions with management responses, flags sentiment divergence, and feeds high-signal cases into the model.</a:t>
            </a:r>
            <a:endParaRPr sz="1200">
              <a:solidFill>
                <a:srgbClr val="000000"/>
              </a:solidFill>
            </a:endParaRPr>
          </a:p>
          <a:p>
            <a:pPr indent="-304800" lvl="0" marL="457200" rtl="0" algn="l">
              <a:lnSpc>
                <a:spcPct val="125454"/>
              </a:lnSpc>
              <a:spcBef>
                <a:spcPts val="0"/>
              </a:spcBef>
              <a:spcAft>
                <a:spcPts val="0"/>
              </a:spcAft>
              <a:buClr>
                <a:srgbClr val="000000"/>
              </a:buClr>
              <a:buSzPts val="1200"/>
              <a:buFont typeface="Arial"/>
              <a:buChar char="●"/>
            </a:pPr>
            <a:r>
              <a:rPr b="1" lang="en-GB" sz="1200">
                <a:solidFill>
                  <a:srgbClr val="000000"/>
                </a:solidFill>
              </a:rPr>
              <a:t>Focused Reasoning (Phi-4-mini): </a:t>
            </a:r>
            <a:r>
              <a:rPr lang="en-GB" sz="1200">
                <a:solidFill>
                  <a:srgbClr val="000000"/>
                </a:solidFill>
              </a:rPr>
              <a:t>Phi-4-mini-instruct provides concise, financially grounded explanations that populate an enriched dataset and support PRA-facing reports.</a:t>
            </a:r>
            <a:endParaRPr/>
          </a:p>
        </p:txBody>
      </p:sp>
      <p:sp>
        <p:nvSpPr>
          <p:cNvPr id="274" name="Google Shape;274;p3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75" name="Google Shape;275;p31"/>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2"/>
          <p:cNvSpPr txBox="1"/>
          <p:nvPr>
            <p:ph idx="1" type="body"/>
          </p:nvPr>
        </p:nvSpPr>
        <p:spPr>
          <a:xfrm>
            <a:off x="658475" y="1794200"/>
            <a:ext cx="8187300" cy="3015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88"/>
              <a:buNone/>
            </a:pPr>
            <a:r>
              <a:rPr b="1" lang="en-GB" sz="1100"/>
              <a:t>Year: 2023, Quarter: 4</a:t>
            </a:r>
            <a:r>
              <a:rPr b="1" lang="en-GB" sz="1000"/>
              <a:t> </a:t>
            </a:r>
            <a:endParaRPr b="1" sz="1000"/>
          </a:p>
          <a:p>
            <a:pPr indent="0" lvl="0" marL="0" rtl="0" algn="l">
              <a:lnSpc>
                <a:spcPct val="95000"/>
              </a:lnSpc>
              <a:spcBef>
                <a:spcPts val="1200"/>
              </a:spcBef>
              <a:spcAft>
                <a:spcPts val="0"/>
              </a:spcAft>
              <a:buSzPts val="688"/>
              <a:buNone/>
            </a:pPr>
            <a:r>
              <a:rPr b="1" lang="en-GB" sz="1000"/>
              <a:t>Analyst Question (Sentiment: Negative)</a:t>
            </a:r>
            <a:r>
              <a:rPr lang="en-GB" sz="1000"/>
              <a:t>: Great. And on the flip side, in C&amp;I;, you spoke about lower revolver utilization, more muted demand. What would it take for </a:t>
            </a:r>
            <a:r>
              <a:rPr lang="en-GB" sz="1000"/>
              <a:t>that</a:t>
            </a:r>
            <a:r>
              <a:rPr lang="en-GB" sz="1000"/>
              <a:t> to rebound? Do you think it accelerates from here if rates come down or is there room for this to slow even further if the capital markets open up even more ? </a:t>
            </a:r>
            <a:endParaRPr sz="1000"/>
          </a:p>
          <a:p>
            <a:pPr indent="0" lvl="0" marL="0" rtl="0" algn="l">
              <a:lnSpc>
                <a:spcPct val="95000"/>
              </a:lnSpc>
              <a:spcBef>
                <a:spcPts val="1200"/>
              </a:spcBef>
              <a:spcAft>
                <a:spcPts val="0"/>
              </a:spcAft>
              <a:buSzPts val="688"/>
              <a:buNone/>
            </a:pPr>
            <a:r>
              <a:rPr b="1" lang="en-GB" sz="1000"/>
              <a:t>Management Answer (Sentiment: Neutral)</a:t>
            </a:r>
            <a:r>
              <a:rPr lang="en-GB" sz="1000"/>
              <a:t>: Yeah. It's a good question. I mean, I think as you say, it's a little bit of a – I mean, I wouldn't necessarily say that, like, lack of debt market access in the last year, that was more of an earlier effect in terms of having that drive revolver utilization. I think the main driver </a:t>
            </a:r>
            <a:r>
              <a:rPr lang="en-GB" sz="1000"/>
              <a:t>there</a:t>
            </a:r>
            <a:r>
              <a:rPr lang="en-GB" sz="1000"/>
              <a:t> is just a little bit of residual anxiety in the C-suite, which increases as the companies get smaller in size. So, it's really going to be a function of how 2024 plays out. The softer the landing is, the more supported the utilization should be, I </a:t>
            </a:r>
            <a:r>
              <a:rPr lang="en-GB" sz="1000"/>
              <a:t>would</a:t>
            </a:r>
            <a:r>
              <a:rPr lang="en-GB" sz="1000"/>
              <a:t> think. If things turn out a little bit worse, I think management teams are going to be incrementally more cautious about CapEx and so on, and so you might see utilization even </a:t>
            </a:r>
            <a:r>
              <a:rPr lang="en-GB" sz="1000"/>
              <a:t>lower</a:t>
            </a:r>
            <a:r>
              <a:rPr lang="en-GB" sz="1000"/>
              <a:t>.</a:t>
            </a:r>
            <a:endParaRPr sz="1000"/>
          </a:p>
          <a:p>
            <a:pPr indent="0" lvl="0" marL="0" rtl="0" algn="l">
              <a:lnSpc>
                <a:spcPct val="95000"/>
              </a:lnSpc>
              <a:spcBef>
                <a:spcPts val="1200"/>
              </a:spcBef>
              <a:spcAft>
                <a:spcPts val="1200"/>
              </a:spcAft>
              <a:buSzPts val="688"/>
              <a:buNone/>
            </a:pPr>
            <a:r>
              <a:rPr b="1" lang="en-GB" sz="1000"/>
              <a:t> Explanation</a:t>
            </a:r>
            <a:r>
              <a:rPr lang="en-GB" sz="1000"/>
              <a:t>: The analyst expresses concern about </a:t>
            </a:r>
            <a:r>
              <a:rPr b="1" lang="en-GB" sz="1000"/>
              <a:t>lower revolver utilization and muted demand</a:t>
            </a:r>
            <a:r>
              <a:rPr lang="en-GB" sz="1000"/>
              <a:t>, suggesting a negative outlook, while management remains neutral, </a:t>
            </a:r>
            <a:r>
              <a:rPr b="1" lang="en-GB" sz="1000"/>
              <a:t>attributing the issue to residual anxiety and the uncertain economic outlook for 2024</a:t>
            </a:r>
            <a:r>
              <a:rPr lang="en-GB" sz="1000"/>
              <a:t>. </a:t>
            </a:r>
            <a:r>
              <a:rPr lang="en-GB" sz="1000">
                <a:solidFill>
                  <a:srgbClr val="1A9987"/>
                </a:solidFill>
              </a:rPr>
              <a:t>The analyst's sentiment is driven by a fear of continued low demand and potential further decline, while management's sentiment is cautious, focusing on the impact of economic conditions on capital expenditure and utilization</a:t>
            </a:r>
            <a:r>
              <a:rPr lang="en-GB" sz="1000"/>
              <a:t>. </a:t>
            </a:r>
            <a:r>
              <a:rPr b="1" lang="en-GB" sz="1000"/>
              <a:t>Risk areas to focus on</a:t>
            </a:r>
            <a:r>
              <a:rPr lang="en-GB" sz="1000"/>
              <a:t>: </a:t>
            </a:r>
            <a:r>
              <a:rPr lang="en-GB" sz="1000">
                <a:solidFill>
                  <a:srgbClr val="EB5501"/>
                </a:solidFill>
              </a:rPr>
              <a:t>Monitor the impact of economic conditions on capital expenditure and utilization, as well as the potential for further decline in demand and its effect on the company's financial health</a:t>
            </a:r>
            <a:r>
              <a:rPr lang="en-GB" sz="1000"/>
              <a:t>.</a:t>
            </a:r>
            <a:endParaRPr sz="1000"/>
          </a:p>
        </p:txBody>
      </p:sp>
      <p:sp>
        <p:nvSpPr>
          <p:cNvPr id="281" name="Google Shape;281;p32"/>
          <p:cNvSpPr txBox="1"/>
          <p:nvPr>
            <p:ph type="title"/>
          </p:nvPr>
        </p:nvSpPr>
        <p:spPr>
          <a:xfrm>
            <a:off x="727650" y="12590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Sentiment Divergence Explained — An Example</a:t>
            </a:r>
            <a:endParaRPr/>
          </a:p>
        </p:txBody>
      </p:sp>
      <p:sp>
        <p:nvSpPr>
          <p:cNvPr id="282" name="Google Shape;282;p3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83" name="Google Shape;283;p32"/>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Impact on the PRA</a:t>
            </a:r>
            <a:endParaRPr/>
          </a:p>
        </p:txBody>
      </p:sp>
      <p:sp>
        <p:nvSpPr>
          <p:cNvPr id="289" name="Google Shape;289;p3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lnSpcReduction="10000"/>
          </a:bodyPr>
          <a:lstStyle/>
          <a:p>
            <a:pPr indent="0" lvl="0" marL="0" rtl="0" algn="l">
              <a:lnSpc>
                <a:spcPct val="125454"/>
              </a:lnSpc>
              <a:spcBef>
                <a:spcPts val="0"/>
              </a:spcBef>
              <a:spcAft>
                <a:spcPts val="0"/>
              </a:spcAft>
              <a:buNone/>
            </a:pPr>
            <a:r>
              <a:rPr b="1" lang="en-GB" sz="1200">
                <a:solidFill>
                  <a:srgbClr val="000000"/>
                </a:solidFill>
              </a:rPr>
              <a:t>Enhanced Supervisory Insight: </a:t>
            </a:r>
            <a:r>
              <a:rPr lang="en-GB" sz="1200">
                <a:solidFill>
                  <a:srgbClr val="000000"/>
                </a:solidFill>
              </a:rPr>
              <a:t>Enables systematic, scalable detection of early risk signals by highlighting informational asymmetries, unacknowledged vulnerabilities, and instances where management downplays analyst concerns.</a:t>
            </a:r>
            <a:endParaRPr sz="1200">
              <a:solidFill>
                <a:srgbClr val="000000"/>
              </a:solidFill>
            </a:endParaRPr>
          </a:p>
          <a:p>
            <a:pPr indent="0" lvl="0" marL="0" rtl="0" algn="l">
              <a:lnSpc>
                <a:spcPct val="125454"/>
              </a:lnSpc>
              <a:spcBef>
                <a:spcPts val="800"/>
              </a:spcBef>
              <a:spcAft>
                <a:spcPts val="0"/>
              </a:spcAft>
              <a:buNone/>
            </a:pPr>
            <a:r>
              <a:rPr b="1" lang="en-GB" sz="1200">
                <a:solidFill>
                  <a:srgbClr val="000000"/>
                </a:solidFill>
              </a:rPr>
              <a:t>Regulatory Foresight &amp; Thematic Reviews:</a:t>
            </a:r>
            <a:r>
              <a:rPr lang="en-GB" sz="1200">
                <a:solidFill>
                  <a:srgbClr val="000000"/>
                </a:solidFill>
              </a:rPr>
              <a:t>Aggregates divergence patterns across firms and sectors to identify emerging systemic risks (e.g., credit tightening, market access stress), uncover themes for deeper review, and spotlight firms with persistent sentiment misalignment.</a:t>
            </a:r>
            <a:endParaRPr sz="1200">
              <a:solidFill>
                <a:srgbClr val="000000"/>
              </a:solidFill>
            </a:endParaRPr>
          </a:p>
          <a:p>
            <a:pPr indent="0" lvl="0" marL="0" rtl="0" algn="l">
              <a:lnSpc>
                <a:spcPct val="125454"/>
              </a:lnSpc>
              <a:spcBef>
                <a:spcPts val="800"/>
              </a:spcBef>
              <a:spcAft>
                <a:spcPts val="800"/>
              </a:spcAft>
              <a:buNone/>
            </a:pPr>
            <a:r>
              <a:rPr b="1" lang="en-GB" sz="1200">
                <a:solidFill>
                  <a:srgbClr val="000000"/>
                </a:solidFill>
              </a:rPr>
              <a:t>Behavioral &amp; Governance Red Flags: </a:t>
            </a:r>
            <a:r>
              <a:rPr lang="en-GB" sz="1200">
                <a:solidFill>
                  <a:srgbClr val="000000"/>
                </a:solidFill>
              </a:rPr>
              <a:t>Surfaces signs of overconfidence, lack of transparency, or cultural weaknesses in leadership. Supports governance evaluations, disclosure quality assessments, and early detection of risk management issues.</a:t>
            </a:r>
            <a:endParaRPr b="1" sz="1500">
              <a:solidFill>
                <a:srgbClr val="000000"/>
              </a:solidFill>
            </a:endParaRPr>
          </a:p>
        </p:txBody>
      </p:sp>
      <p:sp>
        <p:nvSpPr>
          <p:cNvPr id="290" name="Google Shape;290;p3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Potential Improvements</a:t>
            </a:r>
            <a:endParaRPr/>
          </a:p>
        </p:txBody>
      </p:sp>
      <p:sp>
        <p:nvSpPr>
          <p:cNvPr id="296" name="Google Shape;296;p34"/>
          <p:cNvSpPr txBox="1"/>
          <p:nvPr>
            <p:ph idx="1" type="body"/>
          </p:nvPr>
        </p:nvSpPr>
        <p:spPr>
          <a:xfrm>
            <a:off x="729450" y="2078875"/>
            <a:ext cx="7688700" cy="1907100"/>
          </a:xfrm>
          <a:prstGeom prst="rect">
            <a:avLst/>
          </a:prstGeom>
        </p:spPr>
        <p:txBody>
          <a:bodyPr anchorCtr="0" anchor="ctr" bIns="91425" lIns="91425" spcFirstLastPara="1" rIns="91425" wrap="square" tIns="91425">
            <a:noAutofit/>
          </a:bodyPr>
          <a:lstStyle/>
          <a:p>
            <a:pPr indent="-311150" lvl="0" marL="457200" rtl="0" algn="l">
              <a:spcBef>
                <a:spcPts val="1200"/>
              </a:spcBef>
              <a:spcAft>
                <a:spcPts val="0"/>
              </a:spcAft>
              <a:buClr>
                <a:srgbClr val="000000"/>
              </a:buClr>
              <a:buSzPts val="1300"/>
              <a:buChar char="●"/>
            </a:pPr>
            <a:r>
              <a:rPr lang="en-GB">
                <a:solidFill>
                  <a:srgbClr val="000000"/>
                </a:solidFill>
              </a:rPr>
              <a:t>E</a:t>
            </a:r>
            <a:r>
              <a:rPr lang="en-GB">
                <a:solidFill>
                  <a:srgbClr val="000000"/>
                </a:solidFill>
              </a:rPr>
              <a:t>nhance financial reasoning with domain</a:t>
            </a:r>
            <a:r>
              <a:rPr lang="en-GB">
                <a:solidFill>
                  <a:srgbClr val="000000"/>
                </a:solidFill>
              </a:rPr>
              <a:t>-</a:t>
            </a:r>
            <a:r>
              <a:rPr lang="en-GB">
                <a:solidFill>
                  <a:srgbClr val="000000"/>
                </a:solidFill>
              </a:rPr>
              <a:t>adaptive training by:</a:t>
            </a:r>
            <a:endParaRPr>
              <a:solidFill>
                <a:srgbClr val="000000"/>
              </a:solidFill>
            </a:endParaRPr>
          </a:p>
          <a:p>
            <a:pPr indent="-311150" lvl="1" marL="914400" rtl="0" algn="l">
              <a:spcBef>
                <a:spcPts val="0"/>
              </a:spcBef>
              <a:spcAft>
                <a:spcPts val="0"/>
              </a:spcAft>
              <a:buClr>
                <a:srgbClr val="000000"/>
              </a:buClr>
              <a:buSzPts val="1300"/>
              <a:buChar char="○"/>
            </a:pPr>
            <a:r>
              <a:rPr lang="en-GB" sz="1300">
                <a:solidFill>
                  <a:srgbClr val="000000"/>
                </a:solidFill>
              </a:rPr>
              <a:t>I</a:t>
            </a:r>
            <a:r>
              <a:rPr lang="en-GB" sz="1300">
                <a:solidFill>
                  <a:srgbClr val="000000"/>
                </a:solidFill>
              </a:rPr>
              <a:t>ntegrating financial glossary via a RAG for enhanced language understanding</a:t>
            </a:r>
            <a:endParaRPr sz="1300">
              <a:solidFill>
                <a:srgbClr val="000000"/>
              </a:solidFill>
            </a:endParaRPr>
          </a:p>
          <a:p>
            <a:pPr indent="-311150" lvl="1" marL="914400" rtl="0" algn="l">
              <a:spcBef>
                <a:spcPts val="0"/>
              </a:spcBef>
              <a:spcAft>
                <a:spcPts val="0"/>
              </a:spcAft>
              <a:buClr>
                <a:srgbClr val="000000"/>
              </a:buClr>
              <a:buSzPts val="1300"/>
              <a:buChar char="○"/>
            </a:pPr>
            <a:r>
              <a:rPr lang="en-GB" sz="1300">
                <a:solidFill>
                  <a:srgbClr val="000000"/>
                </a:solidFill>
              </a:rPr>
              <a:t>Add more sources of data ie. 10q/k reports, presentations, etc. </a:t>
            </a:r>
            <a:endParaRPr sz="1300">
              <a:solidFill>
                <a:srgbClr val="000000"/>
              </a:solidFill>
            </a:endParaRPr>
          </a:p>
          <a:p>
            <a:pPr indent="-311150" lvl="0" marL="457200" rtl="0" algn="l">
              <a:spcBef>
                <a:spcPts val="0"/>
              </a:spcBef>
              <a:spcAft>
                <a:spcPts val="0"/>
              </a:spcAft>
              <a:buClr>
                <a:srgbClr val="000000"/>
              </a:buClr>
              <a:buSzPts val="1300"/>
              <a:buChar char="●"/>
            </a:pPr>
            <a:r>
              <a:rPr lang="en-GB">
                <a:solidFill>
                  <a:srgbClr val="000000"/>
                </a:solidFill>
              </a:rPr>
              <a:t> Test against real supervisory use cases — Human in the loop Refinement</a:t>
            </a:r>
            <a:endParaRPr>
              <a:solidFill>
                <a:srgbClr val="000000"/>
              </a:solidFill>
            </a:endParaRPr>
          </a:p>
          <a:p>
            <a:pPr indent="-311150" lvl="0" marL="457200" rtl="0" algn="l">
              <a:spcBef>
                <a:spcPts val="0"/>
              </a:spcBef>
              <a:spcAft>
                <a:spcPts val="0"/>
              </a:spcAft>
              <a:buClr>
                <a:srgbClr val="000000"/>
              </a:buClr>
              <a:buSzPts val="1300"/>
              <a:buChar char="●"/>
            </a:pPr>
            <a:r>
              <a:rPr lang="en-GB">
                <a:solidFill>
                  <a:srgbClr val="000000"/>
                </a:solidFill>
              </a:rPr>
              <a:t>Expand Explanation Quality with Chain-of-Thought Prompting</a:t>
            </a:r>
            <a:endParaRPr sz="1600"/>
          </a:p>
        </p:txBody>
      </p:sp>
      <p:sp>
        <p:nvSpPr>
          <p:cNvPr id="297" name="Google Shape;297;p3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Key Insight 2: Proactive Risk Identification &amp; Summarization</a:t>
            </a:r>
            <a:endParaRPr/>
          </a:p>
        </p:txBody>
      </p:sp>
      <p:sp>
        <p:nvSpPr>
          <p:cNvPr id="303" name="Google Shape;303;p3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304" name="Google Shape;304;p35"/>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Methodology – LLM-Driven Risk Summarization Workflow</a:t>
            </a:r>
            <a:endParaRPr/>
          </a:p>
        </p:txBody>
      </p:sp>
      <p:sp>
        <p:nvSpPr>
          <p:cNvPr id="310" name="Google Shape;310;p3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311" name="Google Shape;311;p36"/>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
        <p:nvSpPr>
          <p:cNvPr id="312" name="Google Shape;312;p36"/>
          <p:cNvSpPr/>
          <p:nvPr/>
        </p:nvSpPr>
        <p:spPr>
          <a:xfrm>
            <a:off x="800625" y="2389800"/>
            <a:ext cx="1033200" cy="556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Transcript</a:t>
            </a:r>
            <a:endParaRPr>
              <a:latin typeface="Lato"/>
              <a:ea typeface="Lato"/>
              <a:cs typeface="Lato"/>
              <a:sym typeface="Lato"/>
            </a:endParaRPr>
          </a:p>
        </p:txBody>
      </p:sp>
      <p:sp>
        <p:nvSpPr>
          <p:cNvPr id="313" name="Google Shape;313;p36"/>
          <p:cNvSpPr/>
          <p:nvPr/>
        </p:nvSpPr>
        <p:spPr>
          <a:xfrm>
            <a:off x="2243900" y="2287500"/>
            <a:ext cx="2157000" cy="761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Lato"/>
                <a:ea typeface="Lato"/>
                <a:cs typeface="Lato"/>
                <a:sym typeface="Lato"/>
              </a:rPr>
              <a:t>Summarization Pipeline:</a:t>
            </a:r>
            <a:endParaRPr b="1" sz="1100">
              <a:latin typeface="Lato"/>
              <a:ea typeface="Lato"/>
              <a:cs typeface="Lato"/>
              <a:sym typeface="Lato"/>
            </a:endParaRPr>
          </a:p>
          <a:p>
            <a:pPr indent="0" lvl="0" marL="0" rtl="0" algn="l">
              <a:spcBef>
                <a:spcPts val="0"/>
              </a:spcBef>
              <a:spcAft>
                <a:spcPts val="0"/>
              </a:spcAft>
              <a:buNone/>
            </a:pPr>
            <a:r>
              <a:rPr lang="en-GB" sz="1000">
                <a:latin typeface="Lato"/>
                <a:ea typeface="Lato"/>
                <a:cs typeface="Lato"/>
                <a:sym typeface="Lato"/>
              </a:rPr>
              <a:t>Extractive Models</a:t>
            </a:r>
            <a:endParaRPr sz="1000">
              <a:latin typeface="Lato"/>
              <a:ea typeface="Lato"/>
              <a:cs typeface="Lato"/>
              <a:sym typeface="Lato"/>
            </a:endParaRPr>
          </a:p>
          <a:p>
            <a:pPr indent="0" lvl="0" marL="0" rtl="0" algn="l">
              <a:spcBef>
                <a:spcPts val="0"/>
              </a:spcBef>
              <a:spcAft>
                <a:spcPts val="0"/>
              </a:spcAft>
              <a:buNone/>
            </a:pPr>
            <a:r>
              <a:rPr lang="en-GB" sz="1000">
                <a:latin typeface="Lato"/>
                <a:ea typeface="Lato"/>
                <a:cs typeface="Lato"/>
                <a:sym typeface="Lato"/>
              </a:rPr>
              <a:t>Abstractive Models</a:t>
            </a:r>
            <a:endParaRPr sz="1000">
              <a:latin typeface="Lato"/>
              <a:ea typeface="Lato"/>
              <a:cs typeface="Lato"/>
              <a:sym typeface="Lato"/>
            </a:endParaRPr>
          </a:p>
          <a:p>
            <a:pPr indent="0" lvl="0" marL="0" rtl="0" algn="l">
              <a:spcBef>
                <a:spcPts val="0"/>
              </a:spcBef>
              <a:spcAft>
                <a:spcPts val="0"/>
              </a:spcAft>
              <a:buNone/>
            </a:pPr>
            <a:r>
              <a:rPr lang="en-GB" sz="1000">
                <a:latin typeface="Lato"/>
                <a:ea typeface="Lato"/>
                <a:cs typeface="Lato"/>
                <a:sym typeface="Lato"/>
              </a:rPr>
              <a:t>Hybrid Approach</a:t>
            </a:r>
            <a:endParaRPr sz="1000">
              <a:latin typeface="Lato"/>
              <a:ea typeface="Lato"/>
              <a:cs typeface="Lato"/>
              <a:sym typeface="Lato"/>
            </a:endParaRPr>
          </a:p>
        </p:txBody>
      </p:sp>
      <p:sp>
        <p:nvSpPr>
          <p:cNvPr id="314" name="Google Shape;314;p36"/>
          <p:cNvSpPr/>
          <p:nvPr/>
        </p:nvSpPr>
        <p:spPr>
          <a:xfrm>
            <a:off x="4854300" y="2389800"/>
            <a:ext cx="1296000" cy="556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Lato"/>
                <a:ea typeface="Lato"/>
                <a:cs typeface="Lato"/>
                <a:sym typeface="Lato"/>
              </a:rPr>
              <a:t>Risk Phrase Identification</a:t>
            </a:r>
            <a:endParaRPr>
              <a:latin typeface="Lato"/>
              <a:ea typeface="Lato"/>
              <a:cs typeface="Lato"/>
              <a:sym typeface="Lato"/>
            </a:endParaRPr>
          </a:p>
        </p:txBody>
      </p:sp>
      <p:sp>
        <p:nvSpPr>
          <p:cNvPr id="315" name="Google Shape;315;p36"/>
          <p:cNvSpPr/>
          <p:nvPr/>
        </p:nvSpPr>
        <p:spPr>
          <a:xfrm>
            <a:off x="6482175" y="2389800"/>
            <a:ext cx="1861200" cy="556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Lato"/>
                <a:ea typeface="Lato"/>
                <a:cs typeface="Lato"/>
                <a:sym typeface="Lato"/>
              </a:rPr>
              <a:t>Iterative Prompting &amp; Validation:</a:t>
            </a:r>
            <a:endParaRPr>
              <a:latin typeface="Lato"/>
              <a:ea typeface="Lato"/>
              <a:cs typeface="Lato"/>
              <a:sym typeface="Lato"/>
            </a:endParaRPr>
          </a:p>
        </p:txBody>
      </p:sp>
      <p:sp>
        <p:nvSpPr>
          <p:cNvPr id="316" name="Google Shape;316;p36"/>
          <p:cNvSpPr/>
          <p:nvPr/>
        </p:nvSpPr>
        <p:spPr>
          <a:xfrm>
            <a:off x="1908963" y="2603250"/>
            <a:ext cx="259800" cy="129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7" name="Google Shape;317;p36"/>
          <p:cNvSpPr/>
          <p:nvPr/>
        </p:nvSpPr>
        <p:spPr>
          <a:xfrm>
            <a:off x="4497688" y="2603250"/>
            <a:ext cx="259800" cy="129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8" name="Google Shape;318;p36"/>
          <p:cNvSpPr/>
          <p:nvPr/>
        </p:nvSpPr>
        <p:spPr>
          <a:xfrm>
            <a:off x="6186325" y="2603250"/>
            <a:ext cx="259800" cy="129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319" name="Google Shape;319;p36"/>
          <p:cNvPicPr preferRelativeResize="0"/>
          <p:nvPr/>
        </p:nvPicPr>
        <p:blipFill>
          <a:blip r:embed="rId3">
            <a:alphaModFix/>
          </a:blip>
          <a:stretch>
            <a:fillRect/>
          </a:stretch>
        </p:blipFill>
        <p:spPr>
          <a:xfrm>
            <a:off x="1734375" y="3290438"/>
            <a:ext cx="5258201" cy="11751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The LLM’s Role – Efficient Information Distillation</a:t>
            </a:r>
            <a:endParaRPr/>
          </a:p>
        </p:txBody>
      </p:sp>
      <p:sp>
        <p:nvSpPr>
          <p:cNvPr id="325" name="Google Shape;325;p3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326" name="Google Shape;326;p37"/>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
        <p:nvSpPr>
          <p:cNvPr id="327" name="Google Shape;327;p37"/>
          <p:cNvSpPr txBox="1"/>
          <p:nvPr>
            <p:ph idx="1" type="body"/>
          </p:nvPr>
        </p:nvSpPr>
        <p:spPr>
          <a:xfrm>
            <a:off x="729450" y="1853850"/>
            <a:ext cx="7688700" cy="650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LLMs condense large, complex transcripts into concise, executive-ready summaries.</a:t>
            </a:r>
            <a:endParaRPr/>
          </a:p>
          <a:p>
            <a:pPr indent="-311150" lvl="0" marL="457200" rtl="0" algn="l">
              <a:spcBef>
                <a:spcPts val="0"/>
              </a:spcBef>
              <a:spcAft>
                <a:spcPts val="0"/>
              </a:spcAft>
              <a:buSzPts val="1300"/>
              <a:buChar char="●"/>
            </a:pPr>
            <a:r>
              <a:rPr lang="en-GB"/>
              <a:t>Both extractive (Summa) and abstractive (BART, PEGASUS) models tested for effectiveness.</a:t>
            </a:r>
            <a:endParaRPr/>
          </a:p>
        </p:txBody>
      </p:sp>
      <p:pic>
        <p:nvPicPr>
          <p:cNvPr id="328" name="Google Shape;328;p37"/>
          <p:cNvPicPr preferRelativeResize="0"/>
          <p:nvPr/>
        </p:nvPicPr>
        <p:blipFill>
          <a:blip r:embed="rId3">
            <a:alphaModFix/>
          </a:blip>
          <a:stretch>
            <a:fillRect/>
          </a:stretch>
        </p:blipFill>
        <p:spPr>
          <a:xfrm>
            <a:off x="840850" y="2504250"/>
            <a:ext cx="4541902" cy="1775325"/>
          </a:xfrm>
          <a:prstGeom prst="rect">
            <a:avLst/>
          </a:prstGeom>
          <a:noFill/>
          <a:ln>
            <a:noFill/>
          </a:ln>
        </p:spPr>
      </p:pic>
      <p:sp>
        <p:nvSpPr>
          <p:cNvPr id="329" name="Google Shape;329;p37"/>
          <p:cNvSpPr txBox="1"/>
          <p:nvPr>
            <p:ph idx="1" type="body"/>
          </p:nvPr>
        </p:nvSpPr>
        <p:spPr>
          <a:xfrm>
            <a:off x="5425050" y="2669075"/>
            <a:ext cx="3035400" cy="1325100"/>
          </a:xfrm>
          <a:prstGeom prst="rect">
            <a:avLst/>
          </a:prstGeom>
        </p:spPr>
        <p:txBody>
          <a:bodyPr anchorCtr="0" anchor="t" bIns="91425" lIns="91425" spcFirstLastPara="1" rIns="91425" wrap="square" tIns="91425">
            <a:normAutofit fontScale="47500"/>
          </a:bodyPr>
          <a:lstStyle/>
          <a:p>
            <a:pPr indent="0" lvl="0" marL="0" rtl="0" algn="l">
              <a:spcBef>
                <a:spcPts val="0"/>
              </a:spcBef>
              <a:spcAft>
                <a:spcPts val="0"/>
              </a:spcAft>
              <a:buNone/>
            </a:pPr>
            <a:r>
              <a:rPr lang="en-GB"/>
              <a:t>Between 2022 Q1 and 2025 Q1, original transcripts consistently had the highest word counts, representing full meeting content. Among the summarization models shown—BART, PEGASUS, and T5—BART and PEGASUS produced the most compressed outputs. T5 offered summaries that were slightly longer, suggesting a trade-off between brevity and detail retention.</a:t>
            </a:r>
            <a:endParaRPr/>
          </a:p>
          <a:p>
            <a:pPr indent="0" lvl="0" marL="0" rtl="0" algn="l">
              <a:spcBef>
                <a:spcPts val="1200"/>
              </a:spcBef>
              <a:spcAft>
                <a:spcPts val="1200"/>
              </a:spcAft>
              <a:buNone/>
            </a:pPr>
            <a:r>
              <a:rPr lang="en-GB"/>
              <a:t>A potential risk is that overly compressed summaries—particularly from BART and PEGASUS—may omit nuanced discussions or critical context, which could impact decision-making accuracy in sensitive financial or strategic environments.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Hidden Risk Analysis – Surfacing Non-Obvious Risks</a:t>
            </a:r>
            <a:endParaRPr/>
          </a:p>
        </p:txBody>
      </p:sp>
      <p:sp>
        <p:nvSpPr>
          <p:cNvPr id="335" name="Google Shape;335;p3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336" name="Google Shape;336;p38"/>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
        <p:nvSpPr>
          <p:cNvPr id="337" name="Google Shape;337;p38"/>
          <p:cNvSpPr txBox="1"/>
          <p:nvPr>
            <p:ph idx="1" type="body"/>
          </p:nvPr>
        </p:nvSpPr>
        <p:spPr>
          <a:xfrm>
            <a:off x="729450" y="1760775"/>
            <a:ext cx="7688700" cy="717900"/>
          </a:xfrm>
          <a:prstGeom prst="rect">
            <a:avLst/>
          </a:prstGeom>
        </p:spPr>
        <p:txBody>
          <a:bodyPr anchorCtr="0" anchor="t" bIns="91425" lIns="91425" spcFirstLastPara="1" rIns="91425" wrap="square" tIns="91425">
            <a:normAutofit fontScale="92500"/>
          </a:bodyPr>
          <a:lstStyle/>
          <a:p>
            <a:pPr indent="-304958" lvl="0" marL="457200" rtl="0" algn="l">
              <a:spcBef>
                <a:spcPts val="0"/>
              </a:spcBef>
              <a:spcAft>
                <a:spcPts val="0"/>
              </a:spcAft>
              <a:buSzPct val="100000"/>
              <a:buChar char="●"/>
            </a:pPr>
            <a:r>
              <a:rPr lang="en-GB"/>
              <a:t>LLMs are prompted to highlight hedging and risk language: e.g., “may impact”, “volatility”, “uncertain”.</a:t>
            </a:r>
            <a:endParaRPr/>
          </a:p>
          <a:p>
            <a:pPr indent="-304958" lvl="0" marL="457200" rtl="0" algn="l">
              <a:spcBef>
                <a:spcPts val="0"/>
              </a:spcBef>
              <a:spcAft>
                <a:spcPts val="0"/>
              </a:spcAft>
              <a:buSzPct val="100000"/>
              <a:buChar char="●"/>
            </a:pPr>
            <a:r>
              <a:rPr lang="en-GB"/>
              <a:t>Automated extraction of risk/cautious phrases using regex and pattern matching from LLM output.</a:t>
            </a:r>
            <a:endParaRPr/>
          </a:p>
        </p:txBody>
      </p:sp>
      <p:sp>
        <p:nvSpPr>
          <p:cNvPr id="338" name="Google Shape;338;p38"/>
          <p:cNvSpPr txBox="1"/>
          <p:nvPr>
            <p:ph idx="1" type="body"/>
          </p:nvPr>
        </p:nvSpPr>
        <p:spPr>
          <a:xfrm>
            <a:off x="5738075" y="3352425"/>
            <a:ext cx="3035400" cy="7179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1200"/>
              </a:spcAft>
              <a:buNone/>
            </a:pPr>
            <a:r>
              <a:rPr lang="en-GB"/>
              <a:t>Reliance on LLMs for risk extraction introduces challenges: LLMs may miss implicit risks if phrasing is novel or ambiguous, may underreport rare but critical risk mentions, or may over-summarize, leading to omission of important details—making regular validation, precise tuning and human oversight essential.</a:t>
            </a:r>
            <a:endParaRPr/>
          </a:p>
        </p:txBody>
      </p:sp>
      <p:pic>
        <p:nvPicPr>
          <p:cNvPr id="339" name="Google Shape;339;p38"/>
          <p:cNvPicPr preferRelativeResize="0"/>
          <p:nvPr/>
        </p:nvPicPr>
        <p:blipFill>
          <a:blip r:embed="rId3">
            <a:alphaModFix/>
          </a:blip>
          <a:stretch>
            <a:fillRect/>
          </a:stretch>
        </p:blipFill>
        <p:spPr>
          <a:xfrm>
            <a:off x="102550" y="2382550"/>
            <a:ext cx="5635526" cy="2200400"/>
          </a:xfrm>
          <a:prstGeom prst="rect">
            <a:avLst/>
          </a:prstGeom>
          <a:noFill/>
          <a:ln>
            <a:noFill/>
          </a:ln>
        </p:spPr>
      </p:pic>
      <p:sp>
        <p:nvSpPr>
          <p:cNvPr id="340" name="Google Shape;340;p38"/>
          <p:cNvSpPr txBox="1"/>
          <p:nvPr>
            <p:ph idx="1" type="body"/>
          </p:nvPr>
        </p:nvSpPr>
        <p:spPr>
          <a:xfrm>
            <a:off x="4646750" y="2432125"/>
            <a:ext cx="1302600" cy="342000"/>
          </a:xfrm>
          <a:prstGeom prst="rect">
            <a:avLst/>
          </a:prstGeom>
        </p:spPr>
        <p:txBody>
          <a:bodyPr anchorCtr="0" anchor="t" bIns="91425" lIns="91425" spcFirstLastPara="1" rIns="91425" wrap="square" tIns="91425">
            <a:normAutofit fontScale="40000"/>
          </a:bodyPr>
          <a:lstStyle/>
          <a:p>
            <a:pPr indent="0" lvl="0" marL="0" rtl="0" algn="l">
              <a:spcBef>
                <a:spcPts val="0"/>
              </a:spcBef>
              <a:spcAft>
                <a:spcPts val="1200"/>
              </a:spcAft>
              <a:buNone/>
            </a:pPr>
            <a:r>
              <a:rPr lang="en-GB"/>
              <a:t>Mistral Risk Factors by Quarter Q&amp;A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Model Comparison &amp; Deployment Considerations</a:t>
            </a:r>
            <a:endParaRPr/>
          </a:p>
        </p:txBody>
      </p:sp>
      <p:sp>
        <p:nvSpPr>
          <p:cNvPr id="346" name="Google Shape;346;p3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347" name="Google Shape;347;p39"/>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
        <p:nvSpPr>
          <p:cNvPr id="348" name="Google Shape;348;p39"/>
          <p:cNvSpPr txBox="1"/>
          <p:nvPr>
            <p:ph idx="1" type="body"/>
          </p:nvPr>
        </p:nvSpPr>
        <p:spPr>
          <a:xfrm>
            <a:off x="179975" y="4061800"/>
            <a:ext cx="4743300" cy="3936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1200"/>
              </a:spcAft>
              <a:buNone/>
            </a:pPr>
            <a:r>
              <a:rPr b="1" lang="en-GB"/>
              <a:t>RISK</a:t>
            </a:r>
            <a:r>
              <a:rPr lang="en-GB"/>
              <a:t>: both models can occasionally hallucinate or miss subtle but critical risk cues, so ongoing human validation and prompt refinement are necessary before deployment in sensitive, compliance-focused settings.”</a:t>
            </a:r>
            <a:endParaRPr/>
          </a:p>
        </p:txBody>
      </p:sp>
      <p:sp>
        <p:nvSpPr>
          <p:cNvPr id="349" name="Google Shape;349;p39"/>
          <p:cNvSpPr txBox="1"/>
          <p:nvPr>
            <p:ph idx="1" type="body"/>
          </p:nvPr>
        </p:nvSpPr>
        <p:spPr>
          <a:xfrm>
            <a:off x="727650" y="1735050"/>
            <a:ext cx="7688700" cy="8367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Benchmarked Models: BART and PEGASUS (abstractive LLMs) using ROUGE-1 recall and sentence coverage.</a:t>
            </a:r>
            <a:endParaRPr/>
          </a:p>
          <a:p>
            <a:pPr indent="-311150" lvl="0" marL="457200" rtl="0" algn="l">
              <a:spcBef>
                <a:spcPts val="0"/>
              </a:spcBef>
              <a:spcAft>
                <a:spcPts val="0"/>
              </a:spcAft>
              <a:buSzPts val="1300"/>
              <a:buChar char="●"/>
            </a:pPr>
            <a:r>
              <a:rPr lang="en-GB"/>
              <a:t>Evaluation Metrics: ROUGE-1 Recall, Sentence Coverage</a:t>
            </a:r>
            <a:endParaRPr/>
          </a:p>
        </p:txBody>
      </p:sp>
      <p:pic>
        <p:nvPicPr>
          <p:cNvPr id="350" name="Google Shape;350;p39"/>
          <p:cNvPicPr preferRelativeResize="0"/>
          <p:nvPr/>
        </p:nvPicPr>
        <p:blipFill>
          <a:blip r:embed="rId3">
            <a:alphaModFix/>
          </a:blip>
          <a:stretch>
            <a:fillRect/>
          </a:stretch>
        </p:blipFill>
        <p:spPr>
          <a:xfrm>
            <a:off x="46025" y="2571750"/>
            <a:ext cx="4270724" cy="1461800"/>
          </a:xfrm>
          <a:prstGeom prst="rect">
            <a:avLst/>
          </a:prstGeom>
          <a:noFill/>
          <a:ln>
            <a:noFill/>
          </a:ln>
        </p:spPr>
      </p:pic>
      <p:pic>
        <p:nvPicPr>
          <p:cNvPr id="351" name="Google Shape;351;p39"/>
          <p:cNvPicPr preferRelativeResize="0"/>
          <p:nvPr/>
        </p:nvPicPr>
        <p:blipFill>
          <a:blip r:embed="rId4">
            <a:alphaModFix/>
          </a:blip>
          <a:stretch>
            <a:fillRect/>
          </a:stretch>
        </p:blipFill>
        <p:spPr>
          <a:xfrm>
            <a:off x="4316755" y="2570950"/>
            <a:ext cx="4743419" cy="1461800"/>
          </a:xfrm>
          <a:prstGeom prst="rect">
            <a:avLst/>
          </a:prstGeom>
          <a:noFill/>
          <a:ln>
            <a:noFill/>
          </a:ln>
        </p:spPr>
      </p:pic>
      <p:sp>
        <p:nvSpPr>
          <p:cNvPr id="352" name="Google Shape;352;p39"/>
          <p:cNvSpPr txBox="1"/>
          <p:nvPr>
            <p:ph idx="1" type="body"/>
          </p:nvPr>
        </p:nvSpPr>
        <p:spPr>
          <a:xfrm>
            <a:off x="179975" y="4316475"/>
            <a:ext cx="6285600" cy="535200"/>
          </a:xfrm>
          <a:prstGeom prst="rect">
            <a:avLst/>
          </a:prstGeom>
        </p:spPr>
        <p:txBody>
          <a:bodyPr anchorCtr="0" anchor="t" bIns="91425" lIns="91425" spcFirstLastPara="1" rIns="91425" wrap="square" tIns="91425">
            <a:normAutofit fontScale="55000" lnSpcReduction="10000"/>
          </a:bodyPr>
          <a:lstStyle/>
          <a:p>
            <a:pPr indent="0" lvl="0" marL="0" rtl="0" algn="l">
              <a:spcBef>
                <a:spcPts val="0"/>
              </a:spcBef>
              <a:spcAft>
                <a:spcPts val="1200"/>
              </a:spcAft>
              <a:buNone/>
            </a:pPr>
            <a:r>
              <a:rPr b="1" lang="en-GB"/>
              <a:t>Mistral was also evaluated as part of our experimentation pipeline. Its summaries were generally concise and relevant, particularly on financial topics. However, Mistral was not included in this formal ROUGE and coverage benchmark because human-generated ‘gold standard’ summaries were not available for these meetings, making direct quantitative comparison infeasible.</a:t>
            </a:r>
            <a:endParaRPr b="1"/>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Limitations &amp; Real-World Missed Risk Example</a:t>
            </a:r>
            <a:endParaRPr/>
          </a:p>
        </p:txBody>
      </p:sp>
      <p:sp>
        <p:nvSpPr>
          <p:cNvPr id="358" name="Google Shape;358;p40"/>
          <p:cNvSpPr txBox="1"/>
          <p:nvPr>
            <p:ph idx="1" type="body"/>
          </p:nvPr>
        </p:nvSpPr>
        <p:spPr>
          <a:xfrm>
            <a:off x="727650" y="1799700"/>
            <a:ext cx="7688700" cy="535200"/>
          </a:xfrm>
          <a:prstGeom prst="rect">
            <a:avLst/>
          </a:prstGeom>
        </p:spPr>
        <p:txBody>
          <a:bodyPr anchorCtr="0" anchor="t" bIns="91425" lIns="91425" spcFirstLastPara="1" rIns="91425" wrap="square" tIns="91425">
            <a:normAutofit fontScale="92500" lnSpcReduction="20000"/>
          </a:bodyPr>
          <a:lstStyle/>
          <a:p>
            <a:pPr indent="-304958" lvl="0" marL="457200" rtl="0" algn="l">
              <a:spcBef>
                <a:spcPts val="0"/>
              </a:spcBef>
              <a:spcAft>
                <a:spcPts val="0"/>
              </a:spcAft>
              <a:buSzPct val="100000"/>
              <a:buChar char="●"/>
            </a:pPr>
            <a:r>
              <a:rPr lang="en-GB"/>
              <a:t>LLMs may hallucinate, over-summarize, or miss nuance—especially with risk disclosures.</a:t>
            </a:r>
            <a:endParaRPr/>
          </a:p>
          <a:p>
            <a:pPr indent="-304958" lvl="0" marL="457200" rtl="0" algn="l">
              <a:spcBef>
                <a:spcPts val="0"/>
              </a:spcBef>
              <a:spcAft>
                <a:spcPts val="0"/>
              </a:spcAft>
              <a:buSzPct val="100000"/>
              <a:buChar char="●"/>
            </a:pPr>
            <a:r>
              <a:rPr lang="en-GB"/>
              <a:t>Real Example (2022_Q1):</a:t>
            </a:r>
            <a:endParaRPr/>
          </a:p>
        </p:txBody>
      </p:sp>
      <p:sp>
        <p:nvSpPr>
          <p:cNvPr id="359" name="Google Shape;359;p4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360" name="Google Shape;360;p40"/>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pic>
        <p:nvPicPr>
          <p:cNvPr id="361" name="Google Shape;361;p40"/>
          <p:cNvPicPr preferRelativeResize="0"/>
          <p:nvPr/>
        </p:nvPicPr>
        <p:blipFill>
          <a:blip r:embed="rId3">
            <a:alphaModFix/>
          </a:blip>
          <a:stretch>
            <a:fillRect/>
          </a:stretch>
        </p:blipFill>
        <p:spPr>
          <a:xfrm>
            <a:off x="797125" y="2270425"/>
            <a:ext cx="5602500" cy="1853625"/>
          </a:xfrm>
          <a:prstGeom prst="rect">
            <a:avLst/>
          </a:prstGeom>
          <a:noFill/>
          <a:ln>
            <a:noFill/>
          </a:ln>
        </p:spPr>
      </p:pic>
      <p:sp>
        <p:nvSpPr>
          <p:cNvPr id="362" name="Google Shape;362;p40"/>
          <p:cNvSpPr txBox="1"/>
          <p:nvPr>
            <p:ph idx="1" type="body"/>
          </p:nvPr>
        </p:nvSpPr>
        <p:spPr>
          <a:xfrm>
            <a:off x="6448500" y="3302350"/>
            <a:ext cx="2695500" cy="8217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1200"/>
              </a:spcAft>
              <a:buNone/>
            </a:pPr>
            <a:r>
              <a:rPr lang="en-GB"/>
              <a:t>This real example shows BART summarized the numbers, but omitted nuance around credit reserve builds—a classic risk flag for analysts. Such omissions reinforce the need for human review in regulated or risk-sensitive workflows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1"/>
          <p:cNvSpPr txBox="1"/>
          <p:nvPr>
            <p:ph type="title"/>
          </p:nvPr>
        </p:nvSpPr>
        <p:spPr>
          <a:xfrm>
            <a:off x="727650" y="12107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Summary and Recommendations</a:t>
            </a:r>
            <a:endParaRPr/>
          </a:p>
        </p:txBody>
      </p:sp>
      <p:sp>
        <p:nvSpPr>
          <p:cNvPr id="368" name="Google Shape;368;p41"/>
          <p:cNvSpPr txBox="1"/>
          <p:nvPr>
            <p:ph idx="1" type="body"/>
          </p:nvPr>
        </p:nvSpPr>
        <p:spPr>
          <a:xfrm>
            <a:off x="727650" y="1549200"/>
            <a:ext cx="7688700" cy="393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Strengths:</a:t>
            </a:r>
            <a:endParaRPr/>
          </a:p>
        </p:txBody>
      </p:sp>
      <p:sp>
        <p:nvSpPr>
          <p:cNvPr id="369" name="Google Shape;369;p4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370" name="Google Shape;370;p41"/>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
        <p:nvSpPr>
          <p:cNvPr id="371" name="Google Shape;371;p41"/>
          <p:cNvSpPr txBox="1"/>
          <p:nvPr>
            <p:ph idx="1" type="body"/>
          </p:nvPr>
        </p:nvSpPr>
        <p:spPr>
          <a:xfrm>
            <a:off x="829550" y="1835650"/>
            <a:ext cx="7764600" cy="393600"/>
          </a:xfrm>
          <a:prstGeom prst="rect">
            <a:avLst/>
          </a:prstGeom>
        </p:spPr>
        <p:txBody>
          <a:bodyPr anchorCtr="0" anchor="t" bIns="91425" lIns="91425" spcFirstLastPara="1" rIns="91425" wrap="square" tIns="91425">
            <a:normAutofit/>
          </a:bodyPr>
          <a:lstStyle/>
          <a:p>
            <a:pPr indent="-292100" lvl="0" marL="457200" rtl="0" algn="l">
              <a:spcBef>
                <a:spcPts val="0"/>
              </a:spcBef>
              <a:spcAft>
                <a:spcPts val="0"/>
              </a:spcAft>
              <a:buSzPts val="1000"/>
              <a:buChar char="-"/>
            </a:pPr>
            <a:r>
              <a:rPr lang="en-GB" sz="1000"/>
              <a:t>PEGASUS: Achieves high ROUGE-1 recall and tightly captures main points and risk language</a:t>
            </a:r>
            <a:endParaRPr sz="1000"/>
          </a:p>
        </p:txBody>
      </p:sp>
      <p:sp>
        <p:nvSpPr>
          <p:cNvPr id="372" name="Google Shape;372;p41"/>
          <p:cNvSpPr txBox="1"/>
          <p:nvPr>
            <p:ph idx="1" type="body"/>
          </p:nvPr>
        </p:nvSpPr>
        <p:spPr>
          <a:xfrm>
            <a:off x="829550" y="1969850"/>
            <a:ext cx="7764600" cy="393600"/>
          </a:xfrm>
          <a:prstGeom prst="rect">
            <a:avLst/>
          </a:prstGeom>
        </p:spPr>
        <p:txBody>
          <a:bodyPr anchorCtr="0" anchor="t" bIns="91425" lIns="91425" spcFirstLastPara="1" rIns="91425" wrap="square" tIns="91425">
            <a:normAutofit/>
          </a:bodyPr>
          <a:lstStyle/>
          <a:p>
            <a:pPr indent="-292100" lvl="0" marL="457200" rtl="0" algn="l">
              <a:spcBef>
                <a:spcPts val="0"/>
              </a:spcBef>
              <a:spcAft>
                <a:spcPts val="0"/>
              </a:spcAft>
              <a:buSzPts val="1000"/>
              <a:buChar char="-"/>
            </a:pPr>
            <a:r>
              <a:rPr lang="en-GB" sz="1000"/>
              <a:t>BART: Provides broader coverage and captures more context and nuance.</a:t>
            </a:r>
            <a:endParaRPr sz="1000"/>
          </a:p>
        </p:txBody>
      </p:sp>
      <p:sp>
        <p:nvSpPr>
          <p:cNvPr id="373" name="Google Shape;373;p41"/>
          <p:cNvSpPr txBox="1"/>
          <p:nvPr>
            <p:ph idx="1" type="body"/>
          </p:nvPr>
        </p:nvSpPr>
        <p:spPr>
          <a:xfrm>
            <a:off x="829550" y="2091975"/>
            <a:ext cx="7937100" cy="5352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SzPts val="1000"/>
              <a:buChar char="-"/>
            </a:pPr>
            <a:r>
              <a:rPr lang="en-GB" sz="1000"/>
              <a:t>Mistral: Generates concise, relevant summaries and demonstrates strong performance on financial terminology and short-form text.</a:t>
            </a:r>
            <a:endParaRPr sz="1000"/>
          </a:p>
        </p:txBody>
      </p:sp>
      <p:sp>
        <p:nvSpPr>
          <p:cNvPr id="374" name="Google Shape;374;p41"/>
          <p:cNvSpPr txBox="1"/>
          <p:nvPr>
            <p:ph idx="1" type="body"/>
          </p:nvPr>
        </p:nvSpPr>
        <p:spPr>
          <a:xfrm>
            <a:off x="727650" y="2319000"/>
            <a:ext cx="7688700" cy="393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Limitations:</a:t>
            </a:r>
            <a:endParaRPr/>
          </a:p>
        </p:txBody>
      </p:sp>
      <p:sp>
        <p:nvSpPr>
          <p:cNvPr id="375" name="Google Shape;375;p41"/>
          <p:cNvSpPr txBox="1"/>
          <p:nvPr>
            <p:ph idx="1" type="body"/>
          </p:nvPr>
        </p:nvSpPr>
        <p:spPr>
          <a:xfrm>
            <a:off x="829550" y="2554050"/>
            <a:ext cx="7764600" cy="393600"/>
          </a:xfrm>
          <a:prstGeom prst="rect">
            <a:avLst/>
          </a:prstGeom>
        </p:spPr>
        <p:txBody>
          <a:bodyPr anchorCtr="0" anchor="t" bIns="91425" lIns="91425" spcFirstLastPara="1" rIns="91425" wrap="square" tIns="91425">
            <a:normAutofit/>
          </a:bodyPr>
          <a:lstStyle/>
          <a:p>
            <a:pPr indent="-292100" lvl="0" marL="457200" rtl="0" algn="l">
              <a:spcBef>
                <a:spcPts val="0"/>
              </a:spcBef>
              <a:spcAft>
                <a:spcPts val="0"/>
              </a:spcAft>
              <a:buSzPts val="1000"/>
              <a:buChar char="-"/>
            </a:pPr>
            <a:r>
              <a:rPr lang="en-GB" sz="1000"/>
              <a:t>All models: Can hallucinate and may miss or misstate important quantitative values, especially in complex or data-rich discussions. </a:t>
            </a:r>
            <a:endParaRPr sz="1000"/>
          </a:p>
        </p:txBody>
      </p:sp>
      <p:sp>
        <p:nvSpPr>
          <p:cNvPr id="376" name="Google Shape;376;p41"/>
          <p:cNvSpPr txBox="1"/>
          <p:nvPr>
            <p:ph idx="1" type="body"/>
          </p:nvPr>
        </p:nvSpPr>
        <p:spPr>
          <a:xfrm>
            <a:off x="829550" y="2717388"/>
            <a:ext cx="7764600" cy="393600"/>
          </a:xfrm>
          <a:prstGeom prst="rect">
            <a:avLst/>
          </a:prstGeom>
        </p:spPr>
        <p:txBody>
          <a:bodyPr anchorCtr="0" anchor="t" bIns="91425" lIns="91425" spcFirstLastPara="1" rIns="91425" wrap="square" tIns="91425">
            <a:normAutofit/>
          </a:bodyPr>
          <a:lstStyle/>
          <a:p>
            <a:pPr indent="-292100" lvl="0" marL="457200" rtl="0" algn="l">
              <a:spcBef>
                <a:spcPts val="0"/>
              </a:spcBef>
              <a:spcAft>
                <a:spcPts val="0"/>
              </a:spcAft>
              <a:buSzPts val="1000"/>
              <a:buChar char="-"/>
            </a:pPr>
            <a:r>
              <a:rPr lang="en-GB" sz="1000"/>
              <a:t>PEGASUS: Sometimes omits secondary details and tends to be too narrative.</a:t>
            </a:r>
            <a:endParaRPr sz="1000"/>
          </a:p>
        </p:txBody>
      </p:sp>
      <p:sp>
        <p:nvSpPr>
          <p:cNvPr id="377" name="Google Shape;377;p41"/>
          <p:cNvSpPr txBox="1"/>
          <p:nvPr>
            <p:ph idx="1" type="body"/>
          </p:nvPr>
        </p:nvSpPr>
        <p:spPr>
          <a:xfrm>
            <a:off x="829550" y="2831100"/>
            <a:ext cx="7875900" cy="429900"/>
          </a:xfrm>
          <a:prstGeom prst="rect">
            <a:avLst/>
          </a:prstGeom>
        </p:spPr>
        <p:txBody>
          <a:bodyPr anchorCtr="0" anchor="t" bIns="91425" lIns="91425" spcFirstLastPara="1" rIns="91425" wrap="square" tIns="91425">
            <a:normAutofit/>
          </a:bodyPr>
          <a:lstStyle/>
          <a:p>
            <a:pPr indent="-292100" lvl="0" marL="457200" rtl="0" algn="l">
              <a:spcBef>
                <a:spcPts val="0"/>
              </a:spcBef>
              <a:spcAft>
                <a:spcPts val="0"/>
              </a:spcAft>
              <a:buSzPts val="1000"/>
              <a:buChar char="-"/>
            </a:pPr>
            <a:r>
              <a:rPr lang="en-GB" sz="1000"/>
              <a:t>BART: Sometimes produces longer summaries that include less relevant information, making it harder to pinpoint the key messages.</a:t>
            </a:r>
            <a:endParaRPr sz="1000"/>
          </a:p>
        </p:txBody>
      </p:sp>
      <p:sp>
        <p:nvSpPr>
          <p:cNvPr id="378" name="Google Shape;378;p41"/>
          <p:cNvSpPr txBox="1"/>
          <p:nvPr>
            <p:ph idx="1" type="body"/>
          </p:nvPr>
        </p:nvSpPr>
        <p:spPr>
          <a:xfrm>
            <a:off x="829550" y="2960675"/>
            <a:ext cx="8163600" cy="393600"/>
          </a:xfrm>
          <a:prstGeom prst="rect">
            <a:avLst/>
          </a:prstGeom>
        </p:spPr>
        <p:txBody>
          <a:bodyPr anchorCtr="0" anchor="t" bIns="91425" lIns="91425" spcFirstLastPara="1" rIns="91425" wrap="square" tIns="91425">
            <a:normAutofit/>
          </a:bodyPr>
          <a:lstStyle/>
          <a:p>
            <a:pPr indent="-292100" lvl="0" marL="457200" rtl="0" algn="l">
              <a:spcBef>
                <a:spcPts val="0"/>
              </a:spcBef>
              <a:spcAft>
                <a:spcPts val="0"/>
              </a:spcAft>
              <a:buSzPts val="1000"/>
              <a:buChar char="-"/>
            </a:pPr>
            <a:r>
              <a:rPr lang="en-GB" sz="1000"/>
              <a:t>MITRAL: Sometimes fails to surface subtle risk cues compared to BART/PEGASUS, and its performance is more variable across quarters.</a:t>
            </a:r>
            <a:endParaRPr sz="1000"/>
          </a:p>
        </p:txBody>
      </p:sp>
      <p:sp>
        <p:nvSpPr>
          <p:cNvPr id="379" name="Google Shape;379;p41"/>
          <p:cNvSpPr txBox="1"/>
          <p:nvPr>
            <p:ph idx="1" type="body"/>
          </p:nvPr>
        </p:nvSpPr>
        <p:spPr>
          <a:xfrm>
            <a:off x="727650" y="3179288"/>
            <a:ext cx="7688700" cy="393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Recommendations:</a:t>
            </a:r>
            <a:endParaRPr/>
          </a:p>
        </p:txBody>
      </p:sp>
      <p:sp>
        <p:nvSpPr>
          <p:cNvPr id="380" name="Google Shape;380;p41"/>
          <p:cNvSpPr txBox="1"/>
          <p:nvPr>
            <p:ph idx="1" type="body"/>
          </p:nvPr>
        </p:nvSpPr>
        <p:spPr>
          <a:xfrm>
            <a:off x="829550" y="3421688"/>
            <a:ext cx="7764600" cy="854100"/>
          </a:xfrm>
          <a:prstGeom prst="rect">
            <a:avLst/>
          </a:prstGeom>
        </p:spPr>
        <p:txBody>
          <a:bodyPr anchorCtr="0" anchor="t" bIns="91425" lIns="91425" spcFirstLastPara="1" rIns="91425" wrap="square" tIns="91425">
            <a:normAutofit lnSpcReduction="10000"/>
          </a:bodyPr>
          <a:lstStyle/>
          <a:p>
            <a:pPr indent="-292100" lvl="0" marL="457200" rtl="0" algn="l">
              <a:spcBef>
                <a:spcPts val="0"/>
              </a:spcBef>
              <a:spcAft>
                <a:spcPts val="0"/>
              </a:spcAft>
              <a:buSzPts val="1000"/>
              <a:buChar char="-"/>
            </a:pPr>
            <a:r>
              <a:rPr lang="en-GB" sz="1000"/>
              <a:t>Increase human validation</a:t>
            </a:r>
            <a:endParaRPr sz="1000"/>
          </a:p>
          <a:p>
            <a:pPr indent="-292100" lvl="0" marL="457200" rtl="0" algn="l">
              <a:spcBef>
                <a:spcPts val="0"/>
              </a:spcBef>
              <a:spcAft>
                <a:spcPts val="0"/>
              </a:spcAft>
              <a:buSzPts val="1000"/>
              <a:buChar char="-"/>
            </a:pPr>
            <a:r>
              <a:rPr lang="en-GB" sz="1000"/>
              <a:t>Create gold-standard benchmarks</a:t>
            </a:r>
            <a:endParaRPr sz="1000"/>
          </a:p>
          <a:p>
            <a:pPr indent="-292100" lvl="0" marL="457200" rtl="0" algn="l">
              <a:spcBef>
                <a:spcPts val="0"/>
              </a:spcBef>
              <a:spcAft>
                <a:spcPts val="0"/>
              </a:spcAft>
              <a:buSzPts val="1000"/>
              <a:buChar char="-"/>
            </a:pPr>
            <a:r>
              <a:rPr lang="en-GB" sz="1000"/>
              <a:t>Refine LLM prompts</a:t>
            </a:r>
            <a:endParaRPr sz="1000"/>
          </a:p>
          <a:p>
            <a:pPr indent="-292100" lvl="0" marL="457200" rtl="0" algn="l">
              <a:spcBef>
                <a:spcPts val="0"/>
              </a:spcBef>
              <a:spcAft>
                <a:spcPts val="0"/>
              </a:spcAft>
              <a:buSzPts val="1000"/>
              <a:buChar char="-"/>
            </a:pPr>
            <a:r>
              <a:rPr lang="en-GB" sz="1000"/>
              <a:t>Implement automated checks</a:t>
            </a:r>
            <a:endParaRPr sz="1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2"/>
          <p:cNvSpPr txBox="1"/>
          <p:nvPr>
            <p:ph type="title"/>
          </p:nvPr>
        </p:nvSpPr>
        <p:spPr>
          <a:xfrm>
            <a:off x="729450" y="1322450"/>
            <a:ext cx="7688400" cy="1518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Key Insight 3: Actionable Intelligence for Supervisory Teams</a:t>
            </a:r>
            <a:endParaRPr/>
          </a:p>
        </p:txBody>
      </p:sp>
      <p:sp>
        <p:nvSpPr>
          <p:cNvPr id="386" name="Google Shape;386;p4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387" name="Google Shape;387;p42"/>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Key Objectives</a:t>
            </a:r>
            <a:endParaRPr/>
          </a:p>
        </p:txBody>
      </p:sp>
      <p:sp>
        <p:nvSpPr>
          <p:cNvPr id="393" name="Google Shape;393;p43"/>
          <p:cNvSpPr txBox="1"/>
          <p:nvPr>
            <p:ph idx="1" type="body"/>
          </p:nvPr>
        </p:nvSpPr>
        <p:spPr>
          <a:xfrm>
            <a:off x="729450" y="2078875"/>
            <a:ext cx="7688700" cy="687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Proactively identify potential concerns from earnings call transcripts.</a:t>
            </a:r>
            <a:endParaRPr/>
          </a:p>
          <a:p>
            <a:pPr indent="-311150" lvl="0" marL="457200" rtl="0" algn="l">
              <a:spcBef>
                <a:spcPts val="0"/>
              </a:spcBef>
              <a:spcAft>
                <a:spcPts val="0"/>
              </a:spcAft>
              <a:buSzPts val="1300"/>
              <a:buChar char="●"/>
            </a:pPr>
            <a:r>
              <a:rPr lang="en-GB"/>
              <a:t>Generate targeted, insightful follow-up questions for supervisory engagement.</a:t>
            </a:r>
            <a:endParaRPr/>
          </a:p>
        </p:txBody>
      </p:sp>
      <p:sp>
        <p:nvSpPr>
          <p:cNvPr id="394" name="Google Shape;394;p4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395" name="Google Shape;395;p43"/>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
        <p:nvSpPr>
          <p:cNvPr id="396" name="Google Shape;396;p43"/>
          <p:cNvSpPr/>
          <p:nvPr/>
        </p:nvSpPr>
        <p:spPr>
          <a:xfrm>
            <a:off x="800875" y="3320350"/>
            <a:ext cx="1207800" cy="556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Transcript</a:t>
            </a:r>
            <a:endParaRPr>
              <a:latin typeface="Lato"/>
              <a:ea typeface="Lato"/>
              <a:cs typeface="Lato"/>
              <a:sym typeface="Lato"/>
            </a:endParaRPr>
          </a:p>
        </p:txBody>
      </p:sp>
      <p:sp>
        <p:nvSpPr>
          <p:cNvPr id="397" name="Google Shape;397;p43"/>
          <p:cNvSpPr/>
          <p:nvPr/>
        </p:nvSpPr>
        <p:spPr>
          <a:xfrm>
            <a:off x="2389925" y="3320350"/>
            <a:ext cx="1883400" cy="556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Phi-4 </a:t>
            </a:r>
            <a:endParaRPr>
              <a:latin typeface="Lato"/>
              <a:ea typeface="Lato"/>
              <a:cs typeface="Lato"/>
              <a:sym typeface="Lato"/>
            </a:endParaRPr>
          </a:p>
          <a:p>
            <a:pPr indent="0" lvl="0" marL="0" rtl="0" algn="ctr">
              <a:spcBef>
                <a:spcPts val="0"/>
              </a:spcBef>
              <a:spcAft>
                <a:spcPts val="0"/>
              </a:spcAft>
              <a:buNone/>
            </a:pPr>
            <a:r>
              <a:rPr lang="en-GB">
                <a:latin typeface="Lato"/>
                <a:ea typeface="Lato"/>
                <a:cs typeface="Lato"/>
                <a:sym typeface="Lato"/>
              </a:rPr>
              <a:t>(Persona &amp; Criteria)</a:t>
            </a:r>
            <a:endParaRPr>
              <a:latin typeface="Lato"/>
              <a:ea typeface="Lato"/>
              <a:cs typeface="Lato"/>
              <a:sym typeface="Lato"/>
            </a:endParaRPr>
          </a:p>
        </p:txBody>
      </p:sp>
      <p:sp>
        <p:nvSpPr>
          <p:cNvPr id="398" name="Google Shape;398;p43"/>
          <p:cNvSpPr/>
          <p:nvPr/>
        </p:nvSpPr>
        <p:spPr>
          <a:xfrm>
            <a:off x="4654563" y="3320350"/>
            <a:ext cx="1445100" cy="556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Identify Concerns</a:t>
            </a:r>
            <a:endParaRPr>
              <a:latin typeface="Lato"/>
              <a:ea typeface="Lato"/>
              <a:cs typeface="Lato"/>
              <a:sym typeface="Lato"/>
            </a:endParaRPr>
          </a:p>
        </p:txBody>
      </p:sp>
      <p:sp>
        <p:nvSpPr>
          <p:cNvPr id="399" name="Google Shape;399;p43"/>
          <p:cNvSpPr/>
          <p:nvPr/>
        </p:nvSpPr>
        <p:spPr>
          <a:xfrm>
            <a:off x="6480925" y="3320350"/>
            <a:ext cx="1445100" cy="556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Follow-up Questions</a:t>
            </a:r>
            <a:endParaRPr>
              <a:latin typeface="Lato"/>
              <a:ea typeface="Lato"/>
              <a:cs typeface="Lato"/>
              <a:sym typeface="Lato"/>
            </a:endParaRPr>
          </a:p>
        </p:txBody>
      </p:sp>
      <p:sp>
        <p:nvSpPr>
          <p:cNvPr id="400" name="Google Shape;400;p43"/>
          <p:cNvSpPr/>
          <p:nvPr/>
        </p:nvSpPr>
        <p:spPr>
          <a:xfrm>
            <a:off x="2020200" y="3533800"/>
            <a:ext cx="358200" cy="129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1" name="Google Shape;401;p43"/>
          <p:cNvSpPr/>
          <p:nvPr/>
        </p:nvSpPr>
        <p:spPr>
          <a:xfrm>
            <a:off x="4284850" y="3533800"/>
            <a:ext cx="358200" cy="129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2" name="Google Shape;402;p43"/>
          <p:cNvSpPr/>
          <p:nvPr/>
        </p:nvSpPr>
        <p:spPr>
          <a:xfrm>
            <a:off x="6099675" y="3533800"/>
            <a:ext cx="358200" cy="129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Our Phi-4 LLM-Driven Approach</a:t>
            </a:r>
            <a:endParaRPr/>
          </a:p>
        </p:txBody>
      </p:sp>
      <p:sp>
        <p:nvSpPr>
          <p:cNvPr id="408" name="Google Shape;408;p4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Font typeface="Arial"/>
              <a:buChar char="●"/>
            </a:pPr>
            <a:r>
              <a:rPr b="1" lang="en-GB"/>
              <a:t>PRA Analyst Personas:</a:t>
            </a:r>
            <a:r>
              <a:rPr lang="en-GB"/>
              <a:t> LLM guided by a defined persona and specific criteria for concerns.</a:t>
            </a:r>
            <a:endParaRPr/>
          </a:p>
          <a:p>
            <a:pPr indent="-311150" lvl="0" marL="457200" rtl="0" algn="l">
              <a:spcBef>
                <a:spcPts val="0"/>
              </a:spcBef>
              <a:spcAft>
                <a:spcPts val="0"/>
              </a:spcAft>
              <a:buSzPts val="1300"/>
              <a:buFont typeface="Arial"/>
              <a:buChar char="●"/>
            </a:pPr>
            <a:r>
              <a:rPr b="1" lang="en-GB"/>
              <a:t>Prompt Engineering &amp; In-Context Learning:</a:t>
            </a:r>
            <a:r>
              <a:rPr lang="en-GB"/>
              <a:t> Meticulous prompt design, utilizing multi-shot examples for refined understanding.</a:t>
            </a:r>
            <a:endParaRPr/>
          </a:p>
          <a:p>
            <a:pPr indent="-311150" lvl="0" marL="457200" rtl="0" algn="l">
              <a:spcBef>
                <a:spcPts val="0"/>
              </a:spcBef>
              <a:spcAft>
                <a:spcPts val="0"/>
              </a:spcAft>
              <a:buSzPts val="1300"/>
              <a:buFont typeface="Arial"/>
              <a:buChar char="●"/>
            </a:pPr>
            <a:r>
              <a:rPr b="1" lang="en-GB"/>
              <a:t>Targeted Extraction:</a:t>
            </a:r>
            <a:r>
              <a:rPr lang="en-GB"/>
              <a:t> Pipeline systematically processes analyst questions to pinpoint relevant statements of concern.</a:t>
            </a:r>
            <a:endParaRPr/>
          </a:p>
          <a:p>
            <a:pPr indent="-311150" lvl="0" marL="457200" rtl="0" algn="l">
              <a:spcBef>
                <a:spcPts val="0"/>
              </a:spcBef>
              <a:spcAft>
                <a:spcPts val="0"/>
              </a:spcAft>
              <a:buSzPts val="1300"/>
              <a:buFont typeface="Arial"/>
              <a:buChar char="●"/>
            </a:pPr>
            <a:r>
              <a:rPr b="1" lang="en-GB"/>
              <a:t>Intelligent Question Generation:</a:t>
            </a:r>
            <a:r>
              <a:rPr lang="en-GB"/>
              <a:t> Based on identified concerns, phi-4 formulates relevant and probing follow-up questions.</a:t>
            </a:r>
            <a:endParaRPr/>
          </a:p>
        </p:txBody>
      </p:sp>
      <p:sp>
        <p:nvSpPr>
          <p:cNvPr id="409" name="Google Shape;409;p4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410" name="Google Shape;410;p44"/>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Example Areas of Concern</a:t>
            </a:r>
            <a:endParaRPr/>
          </a:p>
        </p:txBody>
      </p:sp>
      <p:sp>
        <p:nvSpPr>
          <p:cNvPr id="416" name="Google Shape;416;p4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100">
                <a:latin typeface="Arial"/>
                <a:ea typeface="Arial"/>
                <a:cs typeface="Arial"/>
                <a:sym typeface="Arial"/>
              </a:rPr>
              <a:t>Statement:</a:t>
            </a:r>
            <a:r>
              <a:rPr lang="en-GB" sz="1100">
                <a:latin typeface="Arial"/>
                <a:ea typeface="Arial"/>
                <a:cs typeface="Arial"/>
                <a:sym typeface="Arial"/>
              </a:rPr>
              <a:t> "So we had worked all that out at Investor Day and talked about 12.5% to 13% target, which implies sort of a modest buffer to be used flexibly based on what we expected would be some increase in SCB. Obviously, the increase came in a bit higher than expected, so for now, we're really focused on 1Q 2023."</a:t>
            </a:r>
            <a:endParaRPr sz="1100">
              <a:latin typeface="Arial"/>
              <a:ea typeface="Arial"/>
              <a:cs typeface="Arial"/>
              <a:sym typeface="Arial"/>
            </a:endParaRPr>
          </a:p>
          <a:p>
            <a:pPr indent="0" lvl="0" marL="0" rtl="0" algn="l">
              <a:spcBef>
                <a:spcPts val="1200"/>
              </a:spcBef>
              <a:spcAft>
                <a:spcPts val="0"/>
              </a:spcAft>
              <a:buNone/>
            </a:pPr>
            <a:r>
              <a:rPr b="1" lang="en-GB" sz="1100">
                <a:latin typeface="Arial"/>
                <a:ea typeface="Arial"/>
                <a:cs typeface="Arial"/>
                <a:sym typeface="Arial"/>
              </a:rPr>
              <a:t>Area of Concern:</a:t>
            </a:r>
            <a:r>
              <a:rPr lang="en-GB" sz="1100">
                <a:latin typeface="Arial"/>
                <a:ea typeface="Arial"/>
                <a:cs typeface="Arial"/>
                <a:sym typeface="Arial"/>
              </a:rPr>
              <a:t> Capital Adequacy &amp; Solvency</a:t>
            </a:r>
            <a:endParaRPr sz="1100">
              <a:latin typeface="Arial"/>
              <a:ea typeface="Arial"/>
              <a:cs typeface="Arial"/>
              <a:sym typeface="Arial"/>
            </a:endParaRPr>
          </a:p>
          <a:p>
            <a:pPr indent="0" lvl="0" marL="0" rtl="0" algn="l">
              <a:spcBef>
                <a:spcPts val="1200"/>
              </a:spcBef>
              <a:spcAft>
                <a:spcPts val="1200"/>
              </a:spcAft>
              <a:buNone/>
            </a:pPr>
            <a:r>
              <a:rPr b="1" lang="en-GB" sz="1100">
                <a:latin typeface="Arial"/>
                <a:ea typeface="Arial"/>
                <a:cs typeface="Arial"/>
                <a:sym typeface="Arial"/>
              </a:rPr>
              <a:t>Explanation:</a:t>
            </a:r>
            <a:r>
              <a:rPr lang="en-GB" sz="1100">
                <a:latin typeface="Arial"/>
                <a:ea typeface="Arial"/>
                <a:cs typeface="Arial"/>
                <a:sym typeface="Arial"/>
              </a:rPr>
              <a:t> "The acknowledgment that the SCB increase was higher than expected and the focus on short-term targets (1Q 2023) without a clear long-term strategy for capital adequacy could be concerning. The PRA would be interested in the firm's plans to address the higher-than-expected SCB and ensure that capital levels remain robust in the face of regulatory changes."</a:t>
            </a:r>
            <a:endParaRPr b="1" sz="1050">
              <a:latin typeface="Arial"/>
              <a:ea typeface="Arial"/>
              <a:cs typeface="Arial"/>
              <a:sym typeface="Arial"/>
            </a:endParaRPr>
          </a:p>
        </p:txBody>
      </p:sp>
      <p:sp>
        <p:nvSpPr>
          <p:cNvPr id="417" name="Google Shape;417;p4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418" name="Google Shape;418;p45"/>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Example Targeted Follow-up Questions</a:t>
            </a:r>
            <a:endParaRPr/>
          </a:p>
        </p:txBody>
      </p:sp>
      <p:sp>
        <p:nvSpPr>
          <p:cNvPr id="424" name="Google Shape;424;p4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1050"/>
              <a:t>Based on the statement from Jeremy Barnum regarding the higher-than-expected SCB increase and short-term capital targets:</a:t>
            </a:r>
            <a:endParaRPr sz="1050"/>
          </a:p>
          <a:p>
            <a:pPr indent="0" lvl="0" marL="0" rtl="0" algn="l">
              <a:spcBef>
                <a:spcPts val="1200"/>
              </a:spcBef>
              <a:spcAft>
                <a:spcPts val="0"/>
              </a:spcAft>
              <a:buNone/>
            </a:pPr>
            <a:r>
              <a:rPr b="1" lang="en-GB" sz="1050"/>
              <a:t>Focusing on detail/quantification</a:t>
            </a:r>
            <a:r>
              <a:rPr lang="en-GB" sz="1050"/>
              <a:t>: Can you provide a detailed plan on how the firm intends to adjust its capital targets to accommodate the higher-than-expected SCB increase?</a:t>
            </a:r>
            <a:endParaRPr sz="1050"/>
          </a:p>
          <a:p>
            <a:pPr indent="0" lvl="0" marL="0" rtl="0" algn="l">
              <a:spcBef>
                <a:spcPts val="1200"/>
              </a:spcBef>
              <a:spcAft>
                <a:spcPts val="0"/>
              </a:spcAft>
              <a:buNone/>
            </a:pPr>
            <a:r>
              <a:rPr b="1" lang="en-GB" sz="1050"/>
              <a:t>Focusing on risk mitigation/controls</a:t>
            </a:r>
            <a:r>
              <a:rPr lang="en-GB" sz="1050"/>
              <a:t>: What measures are being taken to ensure that the firm's capital levels remain robust in the face of these regulatory changes?</a:t>
            </a:r>
            <a:endParaRPr sz="1050"/>
          </a:p>
          <a:p>
            <a:pPr indent="0" lvl="0" marL="0" rtl="0" algn="l">
              <a:spcBef>
                <a:spcPts val="1200"/>
              </a:spcBef>
              <a:spcAft>
                <a:spcPts val="0"/>
              </a:spcAft>
              <a:buNone/>
            </a:pPr>
            <a:r>
              <a:rPr b="1" lang="en-GB" sz="1050"/>
              <a:t>Focusing on governance/future plans: </a:t>
            </a:r>
            <a:r>
              <a:rPr lang="en-GB" sz="1050"/>
              <a:t>How is the firm's governance structure ensuring that long-term capital adequacy is not compromised by focusing on short-term targets?</a:t>
            </a:r>
            <a:endParaRPr sz="1050"/>
          </a:p>
          <a:p>
            <a:pPr indent="0" lvl="0" marL="0" rtl="0" algn="l">
              <a:spcBef>
                <a:spcPts val="1200"/>
              </a:spcBef>
              <a:spcAft>
                <a:spcPts val="1200"/>
              </a:spcAft>
              <a:buNone/>
            </a:pPr>
            <a:r>
              <a:rPr b="1" lang="en-GB" sz="1050"/>
              <a:t>Focusing on contingency/broader impact:</a:t>
            </a:r>
            <a:r>
              <a:rPr lang="en-GB" sz="1050"/>
              <a:t> What are the potential risks to the firm's solvency if the capital targets are not adjusted in response to the higher SCB, and how does the firm plan to mitigate these risks?</a:t>
            </a:r>
            <a:endParaRPr/>
          </a:p>
        </p:txBody>
      </p:sp>
      <p:sp>
        <p:nvSpPr>
          <p:cNvPr id="425" name="Google Shape;425;p4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426" name="Google Shape;426;p46"/>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Impact For The PRA Team</a:t>
            </a:r>
            <a:endParaRPr/>
          </a:p>
        </p:txBody>
      </p:sp>
      <p:sp>
        <p:nvSpPr>
          <p:cNvPr id="432" name="Google Shape;432;p4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1200"/>
              </a:spcBef>
              <a:spcAft>
                <a:spcPts val="0"/>
              </a:spcAft>
              <a:buClr>
                <a:schemeClr val="accent1"/>
              </a:buClr>
              <a:buSzPts val="1300"/>
              <a:buFont typeface="Arial"/>
              <a:buChar char="●"/>
            </a:pPr>
            <a:r>
              <a:rPr b="1" lang="en-GB"/>
              <a:t>Efficiency:</a:t>
            </a:r>
            <a:r>
              <a:rPr lang="en-GB"/>
              <a:t> Automates initial screening of extensive textual data.</a:t>
            </a:r>
            <a:endParaRPr/>
          </a:p>
          <a:p>
            <a:pPr indent="-311150" lvl="0" marL="457200" rtl="0" algn="l">
              <a:spcBef>
                <a:spcPts val="0"/>
              </a:spcBef>
              <a:spcAft>
                <a:spcPts val="0"/>
              </a:spcAft>
              <a:buClr>
                <a:schemeClr val="accent1"/>
              </a:buClr>
              <a:buSzPts val="1300"/>
              <a:buFont typeface="Arial"/>
              <a:buChar char="●"/>
            </a:pPr>
            <a:r>
              <a:rPr b="1" lang="en-GB"/>
              <a:t>Enhanced Depth:</a:t>
            </a:r>
            <a:r>
              <a:rPr lang="en-GB"/>
              <a:t> Uncovers subtle and implicit risks often overlooked.</a:t>
            </a:r>
            <a:endParaRPr/>
          </a:p>
          <a:p>
            <a:pPr indent="-311150" lvl="0" marL="457200" rtl="0" algn="l">
              <a:spcBef>
                <a:spcPts val="0"/>
              </a:spcBef>
              <a:spcAft>
                <a:spcPts val="0"/>
              </a:spcAft>
              <a:buClr>
                <a:schemeClr val="accent1"/>
              </a:buClr>
              <a:buSzPts val="1300"/>
              <a:buFont typeface="Arial"/>
              <a:buChar char="●"/>
            </a:pPr>
            <a:r>
              <a:rPr b="1" lang="en-GB"/>
              <a:t>Proactive Engagement:</a:t>
            </a:r>
            <a:r>
              <a:rPr lang="en-GB"/>
              <a:t> Directly supports informed and targeted supervisory inquiries.</a:t>
            </a:r>
            <a:endParaRPr/>
          </a:p>
          <a:p>
            <a:pPr indent="-311150" lvl="0" marL="457200" rtl="0" algn="l">
              <a:spcBef>
                <a:spcPts val="0"/>
              </a:spcBef>
              <a:spcAft>
                <a:spcPts val="0"/>
              </a:spcAft>
              <a:buClr>
                <a:schemeClr val="accent1"/>
              </a:buClr>
              <a:buSzPts val="1300"/>
              <a:buFont typeface="Arial"/>
              <a:buChar char="●"/>
            </a:pPr>
            <a:r>
              <a:rPr b="1" lang="en-GB"/>
              <a:t>Foundational Framework:</a:t>
            </a:r>
            <a:r>
              <a:rPr lang="en-GB"/>
              <a:t> Provides an extensible method for ongoing risk monitoring.</a:t>
            </a:r>
            <a:endParaRPr sz="1500"/>
          </a:p>
        </p:txBody>
      </p:sp>
      <p:sp>
        <p:nvSpPr>
          <p:cNvPr id="433" name="Google Shape;433;p4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434" name="Google Shape;434;p47"/>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Potential Improvements</a:t>
            </a:r>
            <a:endParaRPr/>
          </a:p>
        </p:txBody>
      </p:sp>
      <p:sp>
        <p:nvSpPr>
          <p:cNvPr id="440" name="Google Shape;440;p4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1200"/>
              </a:spcBef>
              <a:spcAft>
                <a:spcPts val="0"/>
              </a:spcAft>
              <a:buClr>
                <a:schemeClr val="accent1"/>
              </a:buClr>
              <a:buSzPts val="1300"/>
              <a:buFont typeface="Arial"/>
              <a:buChar char="●"/>
            </a:pPr>
            <a:r>
              <a:rPr lang="en-GB"/>
              <a:t>Using an LLM Fine-tuned on Financial Text.</a:t>
            </a:r>
            <a:endParaRPr/>
          </a:p>
          <a:p>
            <a:pPr indent="-311150" lvl="0" marL="457200" rtl="0" algn="l">
              <a:spcBef>
                <a:spcPts val="0"/>
              </a:spcBef>
              <a:spcAft>
                <a:spcPts val="0"/>
              </a:spcAft>
              <a:buClr>
                <a:schemeClr val="accent1"/>
              </a:buClr>
              <a:buSzPts val="1300"/>
              <a:buFont typeface="Arial"/>
              <a:buChar char="●"/>
            </a:pPr>
            <a:r>
              <a:rPr lang="en-GB"/>
              <a:t>Incorporating a Glossary of Financial Terms with RAG.</a:t>
            </a:r>
            <a:endParaRPr/>
          </a:p>
          <a:p>
            <a:pPr indent="-311150" lvl="0" marL="457200" rtl="0" algn="l">
              <a:spcBef>
                <a:spcPts val="0"/>
              </a:spcBef>
              <a:spcAft>
                <a:spcPts val="0"/>
              </a:spcAft>
              <a:buClr>
                <a:schemeClr val="accent1"/>
              </a:buClr>
              <a:buSzPts val="1300"/>
              <a:buFont typeface="Arial"/>
              <a:buChar char="●"/>
            </a:pPr>
            <a:r>
              <a:rPr lang="en-GB"/>
              <a:t>Potentially also taking the Presentation itself as Additional Information.</a:t>
            </a:r>
            <a:endParaRPr sz="1500"/>
          </a:p>
        </p:txBody>
      </p:sp>
      <p:sp>
        <p:nvSpPr>
          <p:cNvPr id="441" name="Google Shape;441;p4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442" name="Google Shape;442;p48"/>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49"/>
          <p:cNvSpPr txBox="1"/>
          <p:nvPr>
            <p:ph type="title"/>
          </p:nvPr>
        </p:nvSpPr>
        <p:spPr>
          <a:xfrm>
            <a:off x="729450" y="1322450"/>
            <a:ext cx="7688400" cy="1518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Key Insight 4: Strategic Understanding through Topic Modelling</a:t>
            </a:r>
            <a:endParaRPr/>
          </a:p>
        </p:txBody>
      </p:sp>
      <p:sp>
        <p:nvSpPr>
          <p:cNvPr id="448" name="Google Shape;448;p4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449" name="Google Shape;449;p49"/>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5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55" name="Google Shape;455;p5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56" name="Google Shape;456;p5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457" name="Google Shape;457;p50"/>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pic>
        <p:nvPicPr>
          <p:cNvPr id="458" name="Google Shape;458;p50"/>
          <p:cNvPicPr preferRelativeResize="0"/>
          <p:nvPr/>
        </p:nvPicPr>
        <p:blipFill>
          <a:blip r:embed="rId3">
            <a:alphaModFix/>
          </a:blip>
          <a:stretch>
            <a:fillRect/>
          </a:stretch>
        </p:blipFill>
        <p:spPr>
          <a:xfrm>
            <a:off x="143900" y="174775"/>
            <a:ext cx="5830045" cy="3109851"/>
          </a:xfrm>
          <a:prstGeom prst="rect">
            <a:avLst/>
          </a:prstGeom>
          <a:noFill/>
          <a:ln>
            <a:noFill/>
          </a:ln>
        </p:spPr>
      </p:pic>
      <p:pic>
        <p:nvPicPr>
          <p:cNvPr id="459" name="Google Shape;459;p50"/>
          <p:cNvPicPr preferRelativeResize="0"/>
          <p:nvPr/>
        </p:nvPicPr>
        <p:blipFill rotWithShape="1">
          <a:blip r:embed="rId4">
            <a:alphaModFix/>
          </a:blip>
          <a:srcRect b="0" l="0" r="26766" t="0"/>
          <a:stretch/>
        </p:blipFill>
        <p:spPr>
          <a:xfrm>
            <a:off x="4437050" y="1797825"/>
            <a:ext cx="4269401" cy="3109851"/>
          </a:xfrm>
          <a:prstGeom prst="rect">
            <a:avLst/>
          </a:prstGeom>
          <a:noFill/>
          <a:ln>
            <a:noFill/>
          </a:ln>
        </p:spPr>
      </p:pic>
      <p:sp>
        <p:nvSpPr>
          <p:cNvPr id="460" name="Google Shape;460;p50"/>
          <p:cNvSpPr txBox="1"/>
          <p:nvPr/>
        </p:nvSpPr>
        <p:spPr>
          <a:xfrm>
            <a:off x="6184900" y="196950"/>
            <a:ext cx="2973300" cy="1569900"/>
          </a:xfrm>
          <a:prstGeom prst="rect">
            <a:avLst/>
          </a:prstGeom>
          <a:noFill/>
          <a:ln>
            <a:noFill/>
          </a:ln>
        </p:spPr>
        <p:txBody>
          <a:bodyPr anchorCtr="0" anchor="t" bIns="91425" lIns="91425" spcFirstLastPara="1" rIns="91425" wrap="square" tIns="91425">
            <a:spAutoFit/>
          </a:bodyPr>
          <a:lstStyle/>
          <a:p>
            <a:pPr indent="-292100" lvl="0" marL="457200" rtl="0" algn="l">
              <a:spcBef>
                <a:spcPts val="0"/>
              </a:spcBef>
              <a:spcAft>
                <a:spcPts val="0"/>
              </a:spcAft>
              <a:buClr>
                <a:schemeClr val="accent1"/>
              </a:buClr>
              <a:buSzPts val="1000"/>
              <a:buFont typeface="Lato"/>
              <a:buChar char="●"/>
            </a:pPr>
            <a:r>
              <a:rPr lang="en-GB" sz="1000">
                <a:solidFill>
                  <a:schemeClr val="accent1"/>
                </a:solidFill>
                <a:latin typeface="Lato"/>
                <a:ea typeface="Lato"/>
                <a:cs typeface="Lato"/>
                <a:sym typeface="Lato"/>
              </a:rPr>
              <a:t>Increase mentions in client &amp; wealth management strategy inline </a:t>
            </a:r>
            <a:r>
              <a:rPr lang="en-GB" sz="1000">
                <a:solidFill>
                  <a:schemeClr val="accent1"/>
                </a:solidFill>
                <a:latin typeface="Lato"/>
                <a:ea typeface="Lato"/>
                <a:cs typeface="Lato"/>
                <a:sym typeface="Lato"/>
              </a:rPr>
              <a:t>with</a:t>
            </a:r>
            <a:r>
              <a:rPr lang="en-GB" sz="1000">
                <a:solidFill>
                  <a:schemeClr val="accent1"/>
                </a:solidFill>
                <a:latin typeface="Lato"/>
                <a:ea typeface="Lato"/>
                <a:cs typeface="Lato"/>
                <a:sym typeface="Lato"/>
              </a:rPr>
              <a:t> AUS and fee-based management &amp; private banking</a:t>
            </a:r>
            <a:endParaRPr sz="1000">
              <a:solidFill>
                <a:schemeClr val="accent1"/>
              </a:solidFill>
              <a:latin typeface="Lato"/>
              <a:ea typeface="Lato"/>
              <a:cs typeface="Lato"/>
              <a:sym typeface="Lato"/>
            </a:endParaRPr>
          </a:p>
          <a:p>
            <a:pPr indent="0" lvl="0" marL="457200" rtl="0" algn="l">
              <a:spcBef>
                <a:spcPts val="0"/>
              </a:spcBef>
              <a:spcAft>
                <a:spcPts val="0"/>
              </a:spcAft>
              <a:buNone/>
            </a:pPr>
            <a:r>
              <a:t/>
            </a:r>
            <a:endParaRPr sz="1000">
              <a:solidFill>
                <a:schemeClr val="accent1"/>
              </a:solidFill>
              <a:latin typeface="Lato"/>
              <a:ea typeface="Lato"/>
              <a:cs typeface="Lato"/>
              <a:sym typeface="Lato"/>
            </a:endParaRPr>
          </a:p>
          <a:p>
            <a:pPr indent="-292100" lvl="0" marL="457200" rtl="0" algn="l">
              <a:spcBef>
                <a:spcPts val="0"/>
              </a:spcBef>
              <a:spcAft>
                <a:spcPts val="0"/>
              </a:spcAft>
              <a:buClr>
                <a:schemeClr val="accent1"/>
              </a:buClr>
              <a:buSzPts val="1000"/>
              <a:buFont typeface="Lato"/>
              <a:buChar char="●"/>
            </a:pPr>
            <a:r>
              <a:rPr lang="en-GB" sz="1000">
                <a:solidFill>
                  <a:schemeClr val="accent1"/>
                </a:solidFill>
                <a:latin typeface="Lato"/>
                <a:ea typeface="Lato"/>
                <a:cs typeface="Lato"/>
                <a:sym typeface="Lato"/>
              </a:rPr>
              <a:t>Mentions of commercial real estate exposure in the year 2023 signifies de-</a:t>
            </a:r>
            <a:r>
              <a:rPr lang="en-GB" sz="1000">
                <a:solidFill>
                  <a:schemeClr val="accent1"/>
                </a:solidFill>
                <a:latin typeface="Lato"/>
                <a:ea typeface="Lato"/>
                <a:cs typeface="Lato"/>
                <a:sym typeface="Lato"/>
              </a:rPr>
              <a:t>risking</a:t>
            </a:r>
            <a:r>
              <a:rPr lang="en-GB" sz="1000">
                <a:solidFill>
                  <a:schemeClr val="accent1"/>
                </a:solidFill>
                <a:latin typeface="Lato"/>
                <a:ea typeface="Lato"/>
                <a:cs typeface="Lato"/>
                <a:sym typeface="Lato"/>
              </a:rPr>
              <a:t> strategies - droppin from $15 billion to $8.4 billion from q1 2023 to q1 2024</a:t>
            </a:r>
            <a:endParaRPr sz="1000">
              <a:solidFill>
                <a:schemeClr val="accent1"/>
              </a:solidFill>
              <a:latin typeface="Lato"/>
              <a:ea typeface="Lato"/>
              <a:cs typeface="Lato"/>
              <a:sym typeface="Lato"/>
            </a:endParaRPr>
          </a:p>
        </p:txBody>
      </p:sp>
      <p:sp>
        <p:nvSpPr>
          <p:cNvPr id="461" name="Google Shape;461;p50"/>
          <p:cNvSpPr txBox="1"/>
          <p:nvPr/>
        </p:nvSpPr>
        <p:spPr>
          <a:xfrm>
            <a:off x="143900" y="3425675"/>
            <a:ext cx="4051500" cy="1262100"/>
          </a:xfrm>
          <a:prstGeom prst="rect">
            <a:avLst/>
          </a:prstGeom>
          <a:noFill/>
          <a:ln>
            <a:noFill/>
          </a:ln>
        </p:spPr>
        <p:txBody>
          <a:bodyPr anchorCtr="0" anchor="t" bIns="91425" lIns="91425" spcFirstLastPara="1" rIns="91425" wrap="square" tIns="91425">
            <a:spAutoFit/>
          </a:bodyPr>
          <a:lstStyle/>
          <a:p>
            <a:pPr indent="-292100" lvl="0" marL="457200" rtl="0" algn="l">
              <a:spcBef>
                <a:spcPts val="0"/>
              </a:spcBef>
              <a:spcAft>
                <a:spcPts val="0"/>
              </a:spcAft>
              <a:buClr>
                <a:schemeClr val="accent1"/>
              </a:buClr>
              <a:buSzPts val="1000"/>
              <a:buFont typeface="Lato"/>
              <a:buChar char="●"/>
            </a:pPr>
            <a:r>
              <a:rPr lang="en-GB" sz="1000">
                <a:solidFill>
                  <a:schemeClr val="accent1"/>
                </a:solidFill>
                <a:latin typeface="Lato"/>
                <a:ea typeface="Lato"/>
                <a:cs typeface="Lato"/>
                <a:sym typeface="Lato"/>
              </a:rPr>
              <a:t>Mentions of Executive Leadership &amp; Governance and Investor Relations Conference Logistics disappear from Q3 2023 onwards</a:t>
            </a:r>
            <a:endParaRPr sz="1000">
              <a:solidFill>
                <a:schemeClr val="accent1"/>
              </a:solidFill>
              <a:latin typeface="Lato"/>
              <a:ea typeface="Lato"/>
              <a:cs typeface="Lato"/>
              <a:sym typeface="Lato"/>
            </a:endParaRPr>
          </a:p>
          <a:p>
            <a:pPr indent="0" lvl="0" marL="457200" rtl="0" algn="l">
              <a:spcBef>
                <a:spcPts val="0"/>
              </a:spcBef>
              <a:spcAft>
                <a:spcPts val="0"/>
              </a:spcAft>
              <a:buNone/>
            </a:pPr>
            <a:r>
              <a:t/>
            </a:r>
            <a:endParaRPr sz="1000">
              <a:solidFill>
                <a:schemeClr val="accent1"/>
              </a:solidFill>
              <a:latin typeface="Lato"/>
              <a:ea typeface="Lato"/>
              <a:cs typeface="Lato"/>
              <a:sym typeface="Lato"/>
            </a:endParaRPr>
          </a:p>
          <a:p>
            <a:pPr indent="-292100" lvl="0" marL="457200" rtl="0" algn="l">
              <a:spcBef>
                <a:spcPts val="0"/>
              </a:spcBef>
              <a:spcAft>
                <a:spcPts val="0"/>
              </a:spcAft>
              <a:buClr>
                <a:schemeClr val="accent1"/>
              </a:buClr>
              <a:buSzPts val="1000"/>
              <a:buFont typeface="Lato"/>
              <a:buChar char="●"/>
            </a:pPr>
            <a:r>
              <a:rPr lang="en-GB" sz="1000">
                <a:solidFill>
                  <a:schemeClr val="accent1"/>
                </a:solidFill>
                <a:latin typeface="Lato"/>
                <a:ea typeface="Lato"/>
                <a:cs typeface="Lato"/>
                <a:sym typeface="Lato"/>
              </a:rPr>
              <a:t>Consistent mentions of FICC highlights its importance as a core revenue driver - although FICC can be volatile, Goldman Sachs has a strong and diverse FICC business </a:t>
            </a:r>
            <a:endParaRPr sz="1000">
              <a:solidFill>
                <a:schemeClr val="accent1"/>
              </a:solidFill>
              <a:latin typeface="Lato"/>
              <a:ea typeface="Lato"/>
              <a:cs typeface="Lato"/>
              <a:sym typeface="La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1"/>
          <p:cNvSpPr txBox="1"/>
          <p:nvPr>
            <p:ph type="title"/>
          </p:nvPr>
        </p:nvSpPr>
        <p:spPr>
          <a:xfrm>
            <a:off x="697275" y="13187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67" name="Google Shape;467;p51"/>
          <p:cNvSpPr txBox="1"/>
          <p:nvPr>
            <p:ph idx="12" type="sldNum"/>
          </p:nvPr>
        </p:nvSpPr>
        <p:spPr>
          <a:xfrm>
            <a:off x="8504127" y="474990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468" name="Google Shape;468;p51"/>
          <p:cNvSpPr txBox="1"/>
          <p:nvPr/>
        </p:nvSpPr>
        <p:spPr>
          <a:xfrm>
            <a:off x="13850" y="480945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pic>
        <p:nvPicPr>
          <p:cNvPr id="469" name="Google Shape;469;p51"/>
          <p:cNvPicPr preferRelativeResize="0"/>
          <p:nvPr/>
        </p:nvPicPr>
        <p:blipFill>
          <a:blip r:embed="rId3">
            <a:alphaModFix/>
          </a:blip>
          <a:stretch>
            <a:fillRect/>
          </a:stretch>
        </p:blipFill>
        <p:spPr>
          <a:xfrm>
            <a:off x="13850" y="484025"/>
            <a:ext cx="9097974" cy="2603000"/>
          </a:xfrm>
          <a:prstGeom prst="rect">
            <a:avLst/>
          </a:prstGeom>
          <a:noFill/>
          <a:ln>
            <a:noFill/>
          </a:ln>
        </p:spPr>
      </p:pic>
      <p:sp>
        <p:nvSpPr>
          <p:cNvPr id="470" name="Google Shape;470;p51"/>
          <p:cNvSpPr txBox="1"/>
          <p:nvPr/>
        </p:nvSpPr>
        <p:spPr>
          <a:xfrm>
            <a:off x="260400" y="3382400"/>
            <a:ext cx="8623200" cy="12729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accent1"/>
              </a:buClr>
              <a:buSzPts val="1000"/>
              <a:buFont typeface="Lato"/>
              <a:buChar char="●"/>
            </a:pPr>
            <a:r>
              <a:rPr lang="en-GB" sz="1000">
                <a:solidFill>
                  <a:schemeClr val="accent1"/>
                </a:solidFill>
                <a:latin typeface="Lato"/>
                <a:ea typeface="Lato"/>
                <a:cs typeface="Lato"/>
                <a:sym typeface="Lato"/>
              </a:rPr>
              <a:t>Structural changes in the company - Carey Halio promoted to Global Treasurer, replaced by Jehan Ilahi, in april 2024</a:t>
            </a:r>
            <a:endParaRPr sz="1000">
              <a:solidFill>
                <a:schemeClr val="accent1"/>
              </a:solidFill>
              <a:latin typeface="Lato"/>
              <a:ea typeface="Lato"/>
              <a:cs typeface="Lato"/>
              <a:sym typeface="Lato"/>
            </a:endParaRPr>
          </a:p>
          <a:p>
            <a:pPr indent="0" lvl="0" marL="457200" rtl="0" algn="l">
              <a:spcBef>
                <a:spcPts val="0"/>
              </a:spcBef>
              <a:spcAft>
                <a:spcPts val="0"/>
              </a:spcAft>
              <a:buNone/>
            </a:pPr>
            <a:r>
              <a:t/>
            </a:r>
            <a:endParaRPr sz="1000">
              <a:solidFill>
                <a:schemeClr val="accent1"/>
              </a:solidFill>
              <a:latin typeface="Lato"/>
              <a:ea typeface="Lato"/>
              <a:cs typeface="Lato"/>
              <a:sym typeface="Lato"/>
            </a:endParaRPr>
          </a:p>
          <a:p>
            <a:pPr indent="-292100" lvl="0" marL="457200" rtl="0" algn="l">
              <a:spcBef>
                <a:spcPts val="0"/>
              </a:spcBef>
              <a:spcAft>
                <a:spcPts val="0"/>
              </a:spcAft>
              <a:buClr>
                <a:schemeClr val="accent1"/>
              </a:buClr>
              <a:buSzPts val="1000"/>
              <a:buFont typeface="Lato"/>
              <a:buChar char="●"/>
            </a:pPr>
            <a:r>
              <a:rPr lang="en-GB" sz="1000">
                <a:solidFill>
                  <a:schemeClr val="accent1"/>
                </a:solidFill>
                <a:latin typeface="Lato"/>
                <a:ea typeface="Lato"/>
                <a:cs typeface="Lato"/>
                <a:sym typeface="Lato"/>
              </a:rPr>
              <a:t>Carey Halio's promotion to Global Treasurer signals Goldman Sachs' heightened strategic focus on financial resilience, disciplined capital management, and stable funding to support its pivot towards more recurring revenue streams.</a:t>
            </a:r>
            <a:endParaRPr sz="1000">
              <a:solidFill>
                <a:schemeClr val="accent1"/>
              </a:solidFill>
              <a:latin typeface="Lato"/>
              <a:ea typeface="Lato"/>
              <a:cs typeface="Lato"/>
              <a:sym typeface="Lato"/>
            </a:endParaRPr>
          </a:p>
          <a:p>
            <a:pPr indent="0" lvl="0" marL="0" rtl="0" algn="l">
              <a:spcBef>
                <a:spcPts val="0"/>
              </a:spcBef>
              <a:spcAft>
                <a:spcPts val="0"/>
              </a:spcAft>
              <a:buNone/>
            </a:pPr>
            <a:r>
              <a:t/>
            </a:r>
            <a:endParaRPr sz="1000">
              <a:solidFill>
                <a:schemeClr val="accent1"/>
              </a:solidFill>
              <a:latin typeface="Lato"/>
              <a:ea typeface="Lato"/>
              <a:cs typeface="Lato"/>
              <a:sym typeface="Lat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76" name="Google Shape;476;p5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77" name="Google Shape;477;p5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478" name="Google Shape;478;p52"/>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pic>
        <p:nvPicPr>
          <p:cNvPr id="479" name="Google Shape;479;p52"/>
          <p:cNvPicPr preferRelativeResize="0"/>
          <p:nvPr/>
        </p:nvPicPr>
        <p:blipFill>
          <a:blip r:embed="rId3">
            <a:alphaModFix/>
          </a:blip>
          <a:stretch>
            <a:fillRect/>
          </a:stretch>
        </p:blipFill>
        <p:spPr>
          <a:xfrm>
            <a:off x="0" y="132938"/>
            <a:ext cx="9144001" cy="4877624"/>
          </a:xfrm>
          <a:prstGeom prst="rect">
            <a:avLst/>
          </a:prstGeom>
          <a:noFill/>
          <a:ln>
            <a:noFill/>
          </a:ln>
        </p:spPr>
      </p:pic>
      <p:sp>
        <p:nvSpPr>
          <p:cNvPr id="480" name="Google Shape;480;p52"/>
          <p:cNvSpPr txBox="1"/>
          <p:nvPr/>
        </p:nvSpPr>
        <p:spPr>
          <a:xfrm>
            <a:off x="6698300" y="1269600"/>
            <a:ext cx="2326500" cy="2339700"/>
          </a:xfrm>
          <a:prstGeom prst="rect">
            <a:avLst/>
          </a:prstGeom>
          <a:noFill/>
          <a:ln>
            <a:noFill/>
          </a:ln>
        </p:spPr>
        <p:txBody>
          <a:bodyPr anchorCtr="0" anchor="t" bIns="91425" lIns="91425" spcFirstLastPara="1" rIns="91425" wrap="square" tIns="91425">
            <a:spAutoFit/>
          </a:bodyPr>
          <a:lstStyle/>
          <a:p>
            <a:pPr indent="-292100" lvl="0" marL="457200" rtl="0" algn="l">
              <a:spcBef>
                <a:spcPts val="0"/>
              </a:spcBef>
              <a:spcAft>
                <a:spcPts val="0"/>
              </a:spcAft>
              <a:buClr>
                <a:schemeClr val="accent1"/>
              </a:buClr>
              <a:buSzPts val="1000"/>
              <a:buFont typeface="Lato"/>
              <a:buChar char="●"/>
            </a:pPr>
            <a:r>
              <a:rPr lang="en-GB" sz="1000">
                <a:solidFill>
                  <a:schemeClr val="accent1"/>
                </a:solidFill>
                <a:latin typeface="Lato"/>
                <a:ea typeface="Lato"/>
                <a:cs typeface="Lato"/>
                <a:sym typeface="Lato"/>
              </a:rPr>
              <a:t>Mentions of alternative investments &amp; private credit remain relatively low but saw a sharp spike in Q1 and Q2 2024</a:t>
            </a:r>
            <a:endParaRPr sz="1000">
              <a:solidFill>
                <a:schemeClr val="accent1"/>
              </a:solidFill>
              <a:latin typeface="Lato"/>
              <a:ea typeface="Lato"/>
              <a:cs typeface="Lato"/>
              <a:sym typeface="Lato"/>
            </a:endParaRPr>
          </a:p>
          <a:p>
            <a:pPr indent="0" lvl="0" marL="0" rtl="0" algn="l">
              <a:spcBef>
                <a:spcPts val="0"/>
              </a:spcBef>
              <a:spcAft>
                <a:spcPts val="0"/>
              </a:spcAft>
              <a:buNone/>
            </a:pPr>
            <a:r>
              <a:t/>
            </a:r>
            <a:endParaRPr sz="1000">
              <a:solidFill>
                <a:schemeClr val="accent1"/>
              </a:solidFill>
              <a:latin typeface="Lato"/>
              <a:ea typeface="Lato"/>
              <a:cs typeface="Lato"/>
              <a:sym typeface="Lato"/>
            </a:endParaRPr>
          </a:p>
          <a:p>
            <a:pPr indent="-292100" lvl="0" marL="457200" rtl="0" algn="l">
              <a:spcBef>
                <a:spcPts val="0"/>
              </a:spcBef>
              <a:spcAft>
                <a:spcPts val="0"/>
              </a:spcAft>
              <a:buClr>
                <a:schemeClr val="accent1"/>
              </a:buClr>
              <a:buSzPts val="1000"/>
              <a:buFont typeface="Lato"/>
              <a:buChar char="●"/>
            </a:pPr>
            <a:r>
              <a:rPr lang="en-GB" sz="1000">
                <a:solidFill>
                  <a:schemeClr val="accent1"/>
                </a:solidFill>
                <a:latin typeface="Lato"/>
                <a:ea typeface="Lato"/>
                <a:cs typeface="Lato"/>
                <a:sym typeface="Lato"/>
              </a:rPr>
              <a:t>Increase in interest of Alternative Investments &amp; Private Credit</a:t>
            </a:r>
            <a:endParaRPr sz="1000">
              <a:solidFill>
                <a:schemeClr val="accent1"/>
              </a:solidFill>
              <a:latin typeface="Lato"/>
              <a:ea typeface="Lato"/>
              <a:cs typeface="Lato"/>
              <a:sym typeface="Lato"/>
            </a:endParaRPr>
          </a:p>
          <a:p>
            <a:pPr indent="-292100" lvl="1" marL="914400" rtl="0" algn="l">
              <a:spcBef>
                <a:spcPts val="0"/>
              </a:spcBef>
              <a:spcAft>
                <a:spcPts val="0"/>
              </a:spcAft>
              <a:buClr>
                <a:schemeClr val="accent1"/>
              </a:buClr>
              <a:buSzPts val="1000"/>
              <a:buFont typeface="Lato"/>
              <a:buChar char="○"/>
            </a:pPr>
            <a:r>
              <a:rPr lang="en-GB" sz="1000">
                <a:solidFill>
                  <a:schemeClr val="accent1"/>
                </a:solidFill>
                <a:latin typeface="Lato"/>
                <a:ea typeface="Lato"/>
                <a:cs typeface="Lato"/>
                <a:sym typeface="Lato"/>
              </a:rPr>
              <a:t>Strategic clarity: consistent messaging on AWM growth</a:t>
            </a:r>
            <a:endParaRPr sz="1000">
              <a:solidFill>
                <a:schemeClr val="accent1"/>
              </a:solidFill>
              <a:latin typeface="Lato"/>
              <a:ea typeface="Lato"/>
              <a:cs typeface="Lato"/>
              <a:sym typeface="Lato"/>
            </a:endParaRPr>
          </a:p>
          <a:p>
            <a:pPr indent="-292100" lvl="1" marL="914400" rtl="0" algn="l">
              <a:spcBef>
                <a:spcPts val="0"/>
              </a:spcBef>
              <a:spcAft>
                <a:spcPts val="0"/>
              </a:spcAft>
              <a:buClr>
                <a:schemeClr val="accent1"/>
              </a:buClr>
              <a:buSzPts val="1000"/>
              <a:buFont typeface="Lato"/>
              <a:buChar char="○"/>
            </a:pPr>
            <a:r>
              <a:rPr lang="en-GB" sz="1000">
                <a:solidFill>
                  <a:schemeClr val="accent1"/>
                </a:solidFill>
                <a:latin typeface="Lato"/>
                <a:ea typeface="Lato"/>
                <a:cs typeface="Lato"/>
                <a:sym typeface="Lato"/>
              </a:rPr>
              <a:t>Market Momentum in private credit</a:t>
            </a:r>
            <a:endParaRPr sz="1000">
              <a:solidFill>
                <a:schemeClr val="accent1"/>
              </a:solidFill>
              <a:latin typeface="Lato"/>
              <a:ea typeface="Lato"/>
              <a:cs typeface="Lato"/>
              <a:sym typeface="La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5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486" name="Google Shape;486;p53"/>
          <p:cNvSpPr txBox="1"/>
          <p:nvPr/>
        </p:nvSpPr>
        <p:spPr>
          <a:xfrm>
            <a:off x="46025" y="4809425"/>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pic>
        <p:nvPicPr>
          <p:cNvPr id="487" name="Google Shape;487;p53"/>
          <p:cNvPicPr preferRelativeResize="0"/>
          <p:nvPr/>
        </p:nvPicPr>
        <p:blipFill rotWithShape="1">
          <a:blip r:embed="rId3">
            <a:alphaModFix/>
          </a:blip>
          <a:srcRect b="0" l="0" r="27299" t="0"/>
          <a:stretch/>
        </p:blipFill>
        <p:spPr>
          <a:xfrm>
            <a:off x="4957525" y="366974"/>
            <a:ext cx="4012873" cy="2944425"/>
          </a:xfrm>
          <a:prstGeom prst="rect">
            <a:avLst/>
          </a:prstGeom>
          <a:noFill/>
          <a:ln>
            <a:noFill/>
          </a:ln>
        </p:spPr>
      </p:pic>
      <p:sp>
        <p:nvSpPr>
          <p:cNvPr id="488" name="Google Shape;488;p53"/>
          <p:cNvSpPr txBox="1"/>
          <p:nvPr/>
        </p:nvSpPr>
        <p:spPr>
          <a:xfrm>
            <a:off x="4836300" y="3426800"/>
            <a:ext cx="4248600" cy="13383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en-GB" sz="900">
                <a:solidFill>
                  <a:schemeClr val="accent1"/>
                </a:solidFill>
                <a:latin typeface="Lato"/>
                <a:ea typeface="Lato"/>
                <a:cs typeface="Lato"/>
                <a:sym typeface="Lato"/>
              </a:rPr>
              <a:t>Mentions of topics “Investment  Banking &amp; Deposit Impact” and “Loan Portfolio &amp; Client Activity Trends” </a:t>
            </a:r>
            <a:r>
              <a:rPr lang="en-GB" sz="900">
                <a:solidFill>
                  <a:schemeClr val="accent1"/>
                </a:solidFill>
                <a:latin typeface="Lato"/>
                <a:ea typeface="Lato"/>
                <a:cs typeface="Lato"/>
                <a:sym typeface="Lato"/>
              </a:rPr>
              <a:t>appear</a:t>
            </a:r>
            <a:r>
              <a:rPr lang="en-GB" sz="900">
                <a:solidFill>
                  <a:schemeClr val="accent1"/>
                </a:solidFill>
                <a:latin typeface="Lato"/>
                <a:ea typeface="Lato"/>
                <a:cs typeface="Lato"/>
                <a:sym typeface="Lato"/>
              </a:rPr>
              <a:t> to cease from Q3 and Q4 2024 respectively - No indication pertaining to external effects but likely management discussion restructuring.</a:t>
            </a:r>
            <a:endParaRPr sz="900">
              <a:solidFill>
                <a:schemeClr val="accent1"/>
              </a:solidFill>
              <a:latin typeface="Lato"/>
              <a:ea typeface="Lato"/>
              <a:cs typeface="Lato"/>
              <a:sym typeface="Lato"/>
            </a:endParaRPr>
          </a:p>
        </p:txBody>
      </p:sp>
      <p:sp>
        <p:nvSpPr>
          <p:cNvPr id="489" name="Google Shape;489;p53"/>
          <p:cNvSpPr txBox="1"/>
          <p:nvPr/>
        </p:nvSpPr>
        <p:spPr>
          <a:xfrm>
            <a:off x="0" y="3426800"/>
            <a:ext cx="4457400" cy="1338300"/>
          </a:xfrm>
          <a:prstGeom prst="rect">
            <a:avLst/>
          </a:prstGeom>
          <a:noFill/>
          <a:ln>
            <a:noFill/>
          </a:ln>
        </p:spPr>
        <p:txBody>
          <a:bodyPr anchorCtr="0" anchor="t" bIns="91425" lIns="91425" spcFirstLastPara="1" rIns="91425" wrap="square" tIns="91425">
            <a:noAutofit/>
          </a:bodyPr>
          <a:lstStyle/>
          <a:p>
            <a:pPr indent="-285750" lvl="0" marL="457200" rtl="0" algn="l">
              <a:spcBef>
                <a:spcPts val="0"/>
              </a:spcBef>
              <a:spcAft>
                <a:spcPts val="0"/>
              </a:spcAft>
              <a:buClr>
                <a:schemeClr val="accent1"/>
              </a:buClr>
              <a:buSzPts val="900"/>
              <a:buFont typeface="Lato"/>
              <a:buChar char="●"/>
            </a:pPr>
            <a:r>
              <a:rPr lang="en-GB" sz="900">
                <a:solidFill>
                  <a:schemeClr val="accent1"/>
                </a:solidFill>
                <a:latin typeface="Lato"/>
                <a:ea typeface="Lato"/>
                <a:cs typeface="Lato"/>
                <a:sym typeface="Lato"/>
              </a:rPr>
              <a:t>Topic discussions appear more consistent and structured over the last 3 years compared to Goldman Sachs</a:t>
            </a:r>
            <a:endParaRPr sz="900">
              <a:solidFill>
                <a:schemeClr val="accent1"/>
              </a:solidFill>
              <a:latin typeface="Lato"/>
              <a:ea typeface="Lato"/>
              <a:cs typeface="Lato"/>
              <a:sym typeface="Lato"/>
            </a:endParaRPr>
          </a:p>
          <a:p>
            <a:pPr indent="0" lvl="0" marL="0" rtl="0" algn="l">
              <a:spcBef>
                <a:spcPts val="0"/>
              </a:spcBef>
              <a:spcAft>
                <a:spcPts val="0"/>
              </a:spcAft>
              <a:buNone/>
            </a:pPr>
            <a:r>
              <a:t/>
            </a:r>
            <a:endParaRPr sz="900">
              <a:solidFill>
                <a:schemeClr val="accent1"/>
              </a:solidFill>
              <a:latin typeface="Lato"/>
              <a:ea typeface="Lato"/>
              <a:cs typeface="Lato"/>
              <a:sym typeface="Lato"/>
            </a:endParaRPr>
          </a:p>
          <a:p>
            <a:pPr indent="-285750" lvl="0" marL="457200" rtl="0" algn="l">
              <a:spcBef>
                <a:spcPts val="0"/>
              </a:spcBef>
              <a:spcAft>
                <a:spcPts val="0"/>
              </a:spcAft>
              <a:buClr>
                <a:schemeClr val="accent1"/>
              </a:buClr>
              <a:buSzPts val="900"/>
              <a:buFont typeface="Lato"/>
              <a:buChar char="●"/>
            </a:pPr>
            <a:r>
              <a:rPr lang="en-GB" sz="900">
                <a:solidFill>
                  <a:schemeClr val="accent1"/>
                </a:solidFill>
                <a:latin typeface="Lato"/>
                <a:ea typeface="Lato"/>
                <a:cs typeface="Lato"/>
                <a:sym typeface="Lato"/>
              </a:rPr>
              <a:t>"NII &amp; Market Rates" topic spikes primarily reflect periods of significant central bank interest rate changes (hikes in 2022-2023) and subsequent intense management discussion and re-forecasting around their impact on bank profitability and future rate expectations, particularly during year-end (Q4) and beginning-of-year (Q1) reporting cycles.</a:t>
            </a:r>
            <a:endParaRPr sz="900">
              <a:solidFill>
                <a:schemeClr val="accent1"/>
              </a:solidFill>
              <a:latin typeface="Lato"/>
              <a:ea typeface="Lato"/>
              <a:cs typeface="Lato"/>
              <a:sym typeface="Lato"/>
            </a:endParaRPr>
          </a:p>
        </p:txBody>
      </p:sp>
      <p:pic>
        <p:nvPicPr>
          <p:cNvPr id="490" name="Google Shape;490;p53"/>
          <p:cNvPicPr preferRelativeResize="0"/>
          <p:nvPr/>
        </p:nvPicPr>
        <p:blipFill>
          <a:blip r:embed="rId4">
            <a:alphaModFix/>
          </a:blip>
          <a:stretch>
            <a:fillRect/>
          </a:stretch>
        </p:blipFill>
        <p:spPr>
          <a:xfrm>
            <a:off x="152400" y="152400"/>
            <a:ext cx="4305001" cy="31220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5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96" name="Google Shape;496;p54"/>
          <p:cNvSpPr txBox="1"/>
          <p:nvPr>
            <p:ph idx="1" type="body"/>
          </p:nvPr>
        </p:nvSpPr>
        <p:spPr>
          <a:xfrm>
            <a:off x="146250" y="2912475"/>
            <a:ext cx="8851500" cy="1751400"/>
          </a:xfrm>
          <a:prstGeom prst="rect">
            <a:avLst/>
          </a:prstGeom>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t/>
            </a:r>
            <a:endParaRPr sz="1000"/>
          </a:p>
          <a:p>
            <a:pPr indent="-292100" lvl="0" marL="457200" rtl="0" algn="l">
              <a:lnSpc>
                <a:spcPct val="100000"/>
              </a:lnSpc>
              <a:spcBef>
                <a:spcPts val="0"/>
              </a:spcBef>
              <a:spcAft>
                <a:spcPts val="0"/>
              </a:spcAft>
              <a:buSzPts val="1000"/>
              <a:buChar char="●"/>
            </a:pPr>
            <a:r>
              <a:rPr lang="en-GB" sz="1000"/>
              <a:t>In CFO’s discussion he focuses heavily on Net Interest Income (NII) and market rates as NII is primary revenue source for the bank and Market rates determine interest income and expenses.</a:t>
            </a:r>
            <a:endParaRPr sz="1000"/>
          </a:p>
          <a:p>
            <a:pPr indent="0" lvl="0" marL="457200" rtl="0" algn="l">
              <a:lnSpc>
                <a:spcPct val="100000"/>
              </a:lnSpc>
              <a:spcBef>
                <a:spcPts val="0"/>
              </a:spcBef>
              <a:spcAft>
                <a:spcPts val="0"/>
              </a:spcAft>
              <a:buNone/>
            </a:pPr>
            <a:r>
              <a:t/>
            </a:r>
            <a:endParaRPr sz="1000"/>
          </a:p>
          <a:p>
            <a:pPr indent="0" lvl="0" marL="457200" rtl="0" algn="l">
              <a:lnSpc>
                <a:spcPct val="100000"/>
              </a:lnSpc>
              <a:spcBef>
                <a:spcPts val="0"/>
              </a:spcBef>
              <a:spcAft>
                <a:spcPts val="0"/>
              </a:spcAft>
              <a:buNone/>
            </a:pPr>
            <a:r>
              <a:t/>
            </a:r>
            <a:endParaRPr sz="1000"/>
          </a:p>
          <a:p>
            <a:pPr indent="-292100" lvl="0" marL="457200" rtl="0" algn="l">
              <a:lnSpc>
                <a:spcPct val="100000"/>
              </a:lnSpc>
              <a:spcBef>
                <a:spcPts val="0"/>
              </a:spcBef>
              <a:spcAft>
                <a:spcPts val="0"/>
              </a:spcAft>
              <a:buSzPts val="1000"/>
              <a:buChar char="●"/>
            </a:pPr>
            <a:r>
              <a:rPr lang="en-GB" sz="1000"/>
              <a:t>Jamie Dimon's prominent Q3 2022 remarks stemmed from a period of high macroeconomic uncertainty (e.g., "economic hurricane" warnings), where he provided crucial strategic guidance on capital and interest rate management, offering direct reassurance on the bank's resilience.</a:t>
            </a:r>
            <a:endParaRPr sz="1000"/>
          </a:p>
        </p:txBody>
      </p:sp>
      <p:sp>
        <p:nvSpPr>
          <p:cNvPr id="497" name="Google Shape;497;p5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498" name="Google Shape;498;p54"/>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pic>
        <p:nvPicPr>
          <p:cNvPr id="499" name="Google Shape;499;p54"/>
          <p:cNvPicPr preferRelativeResize="0"/>
          <p:nvPr/>
        </p:nvPicPr>
        <p:blipFill>
          <a:blip r:embed="rId3">
            <a:alphaModFix/>
          </a:blip>
          <a:stretch>
            <a:fillRect/>
          </a:stretch>
        </p:blipFill>
        <p:spPr>
          <a:xfrm>
            <a:off x="0" y="-9"/>
            <a:ext cx="9144003" cy="2607469"/>
          </a:xfrm>
          <a:prstGeom prst="rect">
            <a:avLst/>
          </a:prstGeom>
          <a:noFill/>
          <a:ln>
            <a:noFill/>
          </a:ln>
        </p:spPr>
      </p:pic>
      <p:sp>
        <p:nvSpPr>
          <p:cNvPr id="500" name="Google Shape;500;p54"/>
          <p:cNvSpPr/>
          <p:nvPr/>
        </p:nvSpPr>
        <p:spPr>
          <a:xfrm>
            <a:off x="7868025" y="1243500"/>
            <a:ext cx="1242300" cy="479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01" name="Google Shape;501;p54"/>
          <p:cNvSpPr txBox="1"/>
          <p:nvPr/>
        </p:nvSpPr>
        <p:spPr>
          <a:xfrm>
            <a:off x="7937275" y="1216100"/>
            <a:ext cx="1365900" cy="78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400">
                <a:solidFill>
                  <a:schemeClr val="accent1"/>
                </a:solidFill>
                <a:latin typeface="Lato"/>
                <a:ea typeface="Lato"/>
                <a:cs typeface="Lato"/>
                <a:sym typeface="Lato"/>
              </a:rPr>
              <a:t>Speaker Roles:</a:t>
            </a:r>
            <a:br>
              <a:rPr b="1" lang="en-GB" sz="400">
                <a:solidFill>
                  <a:schemeClr val="accent1"/>
                </a:solidFill>
                <a:latin typeface="Lato"/>
                <a:ea typeface="Lato"/>
                <a:cs typeface="Lato"/>
                <a:sym typeface="Lato"/>
              </a:rPr>
            </a:br>
            <a:endParaRPr b="1" sz="400">
              <a:solidFill>
                <a:schemeClr val="accent1"/>
              </a:solidFill>
              <a:latin typeface="Lato"/>
              <a:ea typeface="Lato"/>
              <a:cs typeface="Lato"/>
              <a:sym typeface="Lato"/>
            </a:endParaRPr>
          </a:p>
          <a:p>
            <a:pPr indent="0" lvl="0" marL="0" rtl="0" algn="l">
              <a:spcBef>
                <a:spcPts val="0"/>
              </a:spcBef>
              <a:spcAft>
                <a:spcPts val="0"/>
              </a:spcAft>
              <a:buNone/>
            </a:pPr>
            <a:r>
              <a:rPr b="1" lang="en-GB" sz="400">
                <a:solidFill>
                  <a:schemeClr val="accent1"/>
                </a:solidFill>
                <a:latin typeface="Lato"/>
                <a:ea typeface="Lato"/>
                <a:cs typeface="Lato"/>
                <a:sym typeface="Lato"/>
              </a:rPr>
              <a:t>Jamie Dimon: CEO</a:t>
            </a:r>
            <a:endParaRPr b="1" sz="400">
              <a:solidFill>
                <a:schemeClr val="accent1"/>
              </a:solidFill>
              <a:latin typeface="Lato"/>
              <a:ea typeface="Lato"/>
              <a:cs typeface="Lato"/>
              <a:sym typeface="Lato"/>
            </a:endParaRPr>
          </a:p>
          <a:p>
            <a:pPr indent="0" lvl="0" marL="0" rtl="0" algn="l">
              <a:spcBef>
                <a:spcPts val="0"/>
              </a:spcBef>
              <a:spcAft>
                <a:spcPts val="0"/>
              </a:spcAft>
              <a:buNone/>
            </a:pPr>
            <a:r>
              <a:rPr b="1" lang="en-GB" sz="400">
                <a:solidFill>
                  <a:schemeClr val="accent1"/>
                </a:solidFill>
                <a:latin typeface="Lato"/>
                <a:ea typeface="Lato"/>
                <a:cs typeface="Lato"/>
                <a:sym typeface="Lato"/>
              </a:rPr>
              <a:t>Jeremy Barnum: CFO</a:t>
            </a:r>
            <a:endParaRPr b="1" sz="400">
              <a:solidFill>
                <a:schemeClr val="accent1"/>
              </a:solidFill>
              <a:latin typeface="Lato"/>
              <a:ea typeface="Lato"/>
              <a:cs typeface="Lato"/>
              <a:sym typeface="La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5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507" name="Google Shape;507;p5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508" name="Google Shape;508;p5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509" name="Google Shape;509;p55"/>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pic>
        <p:nvPicPr>
          <p:cNvPr id="510" name="Google Shape;510;p55"/>
          <p:cNvPicPr preferRelativeResize="0"/>
          <p:nvPr/>
        </p:nvPicPr>
        <p:blipFill>
          <a:blip r:embed="rId3">
            <a:alphaModFix/>
          </a:blip>
          <a:stretch>
            <a:fillRect/>
          </a:stretch>
        </p:blipFill>
        <p:spPr>
          <a:xfrm>
            <a:off x="1800" y="129640"/>
            <a:ext cx="9143999" cy="4884218"/>
          </a:xfrm>
          <a:prstGeom prst="rect">
            <a:avLst/>
          </a:prstGeom>
          <a:noFill/>
          <a:ln>
            <a:noFill/>
          </a:ln>
        </p:spPr>
      </p:pic>
      <p:sp>
        <p:nvSpPr>
          <p:cNvPr id="511" name="Google Shape;511;p55"/>
          <p:cNvSpPr txBox="1"/>
          <p:nvPr/>
        </p:nvSpPr>
        <p:spPr>
          <a:xfrm>
            <a:off x="6469525" y="1262825"/>
            <a:ext cx="2537700" cy="34869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accent1"/>
              </a:buClr>
              <a:buSzPts val="1100"/>
              <a:buFont typeface="Lato"/>
              <a:buChar char="●"/>
            </a:pPr>
            <a:r>
              <a:rPr lang="en-GB" sz="1100">
                <a:solidFill>
                  <a:schemeClr val="accent1"/>
                </a:solidFill>
                <a:latin typeface="Lato"/>
                <a:ea typeface="Lato"/>
                <a:cs typeface="Lato"/>
                <a:sym typeface="Lato"/>
              </a:rPr>
              <a:t>Early Focus (2022): Initial questions largely centered on macroeconomic factors, their timing, and balance sheet impacts like AOCI</a:t>
            </a:r>
            <a:endParaRPr sz="1100">
              <a:solidFill>
                <a:schemeClr val="accent1"/>
              </a:solidFill>
              <a:latin typeface="Lato"/>
              <a:ea typeface="Lato"/>
              <a:cs typeface="Lato"/>
              <a:sym typeface="Lato"/>
            </a:endParaRPr>
          </a:p>
          <a:p>
            <a:pPr indent="0" lvl="0" marL="457200" rtl="0" algn="l">
              <a:spcBef>
                <a:spcPts val="0"/>
              </a:spcBef>
              <a:spcAft>
                <a:spcPts val="0"/>
              </a:spcAft>
              <a:buNone/>
            </a:pPr>
            <a:r>
              <a:t/>
            </a:r>
            <a:endParaRPr sz="1100">
              <a:solidFill>
                <a:schemeClr val="accent1"/>
              </a:solidFill>
              <a:latin typeface="Lato"/>
              <a:ea typeface="Lato"/>
              <a:cs typeface="Lato"/>
              <a:sym typeface="Lato"/>
            </a:endParaRPr>
          </a:p>
          <a:p>
            <a:pPr indent="-298450" lvl="0" marL="457200" rtl="0" algn="l">
              <a:spcBef>
                <a:spcPts val="0"/>
              </a:spcBef>
              <a:spcAft>
                <a:spcPts val="0"/>
              </a:spcAft>
              <a:buClr>
                <a:schemeClr val="accent1"/>
              </a:buClr>
              <a:buSzPts val="1100"/>
              <a:buFont typeface="Lato"/>
              <a:buChar char="●"/>
            </a:pPr>
            <a:r>
              <a:rPr lang="en-GB" sz="1100">
                <a:solidFill>
                  <a:schemeClr val="accent1"/>
                </a:solidFill>
                <a:latin typeface="Lato"/>
                <a:ea typeface="Lato"/>
                <a:cs typeface="Lato"/>
                <a:sym typeface="Lato"/>
              </a:rPr>
              <a:t>Dominant Later Focus (2023-2024): The conversation quickly shifted and became consistently dominated by Net Interest Income (NII) &amp; Capital Allocation and Capital, Growth &amp; Strategic Intent. </a:t>
            </a:r>
            <a:endParaRPr sz="1100">
              <a:solidFill>
                <a:schemeClr val="accent1"/>
              </a:solidFill>
              <a:latin typeface="Lato"/>
              <a:ea typeface="Lato"/>
              <a:cs typeface="Lato"/>
              <a:sym typeface="Lato"/>
            </a:endParaRPr>
          </a:p>
          <a:p>
            <a:pPr indent="0" lvl="0" marL="0" rtl="0" algn="l">
              <a:spcBef>
                <a:spcPts val="0"/>
              </a:spcBef>
              <a:spcAft>
                <a:spcPts val="0"/>
              </a:spcAft>
              <a:buNone/>
            </a:pPr>
            <a:r>
              <a:t/>
            </a:r>
            <a:endParaRPr sz="1100">
              <a:solidFill>
                <a:schemeClr val="accent1"/>
              </a:solidFill>
              <a:latin typeface="Lato"/>
              <a:ea typeface="Lato"/>
              <a:cs typeface="Lato"/>
              <a:sym typeface="Lato"/>
            </a:endParaRPr>
          </a:p>
          <a:p>
            <a:pPr indent="-298450" lvl="0" marL="457200" rtl="0" algn="l">
              <a:spcBef>
                <a:spcPts val="0"/>
              </a:spcBef>
              <a:spcAft>
                <a:spcPts val="0"/>
              </a:spcAft>
              <a:buClr>
                <a:schemeClr val="accent1"/>
              </a:buClr>
              <a:buSzPts val="1100"/>
              <a:buFont typeface="Lato"/>
              <a:buChar char="●"/>
            </a:pPr>
            <a:r>
              <a:rPr lang="en-GB" sz="1100">
                <a:solidFill>
                  <a:schemeClr val="accent1"/>
                </a:solidFill>
                <a:latin typeface="Lato"/>
                <a:ea typeface="Lato"/>
                <a:cs typeface="Lato"/>
                <a:sym typeface="Lato"/>
              </a:rPr>
              <a:t>Transient Concerns: Topics like Product Performance, Liquidity &amp; Quarterly Results surfaced intensely but briefly </a:t>
            </a:r>
            <a:endParaRPr sz="1100">
              <a:solidFill>
                <a:schemeClr val="accent1"/>
              </a:solidFill>
              <a:latin typeface="Lato"/>
              <a:ea typeface="Lato"/>
              <a:cs typeface="Lato"/>
              <a:sym typeface="La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5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Conclusion &amp; Future Directions</a:t>
            </a:r>
            <a:endParaRPr/>
          </a:p>
        </p:txBody>
      </p:sp>
      <p:sp>
        <p:nvSpPr>
          <p:cNvPr id="517" name="Google Shape;517;p5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518" name="Google Shape;518;p56"/>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2" name="Shape 522"/>
        <p:cNvGrpSpPr/>
        <p:nvPr/>
      </p:nvGrpSpPr>
      <p:grpSpPr>
        <a:xfrm>
          <a:off x="0" y="0"/>
          <a:ext cx="0" cy="0"/>
          <a:chOff x="0" y="0"/>
          <a:chExt cx="0" cy="0"/>
        </a:xfrm>
      </p:grpSpPr>
      <p:sp>
        <p:nvSpPr>
          <p:cNvPr id="523" name="Google Shape;523;p5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Conclusions</a:t>
            </a:r>
            <a:endParaRPr/>
          </a:p>
        </p:txBody>
      </p:sp>
      <p:sp>
        <p:nvSpPr>
          <p:cNvPr id="524" name="Google Shape;524;p5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lnSpc>
                <a:spcPct val="100000"/>
              </a:lnSpc>
              <a:spcBef>
                <a:spcPts val="0"/>
              </a:spcBef>
              <a:spcAft>
                <a:spcPts val="0"/>
              </a:spcAft>
              <a:buSzPts val="1300"/>
              <a:buChar char="●"/>
            </a:pPr>
            <a:r>
              <a:rPr lang="en-GB"/>
              <a:t>Preliminary results demonstrate the potential of advanced NLP and LLMs to efficiently identify, assess, and monitor emerging risks and strategic shifts from earnings call data, directly addressing the business question</a:t>
            </a:r>
            <a:endParaRPr/>
          </a:p>
          <a:p>
            <a:pPr indent="0" lvl="0" marL="457200" rtl="0" algn="l">
              <a:lnSpc>
                <a:spcPct val="100000"/>
              </a:lnSpc>
              <a:spcBef>
                <a:spcPts val="0"/>
              </a:spcBef>
              <a:spcAft>
                <a:spcPts val="0"/>
              </a:spcAft>
              <a:buNone/>
            </a:pPr>
            <a:r>
              <a:t/>
            </a:r>
            <a:endParaRPr/>
          </a:p>
          <a:p>
            <a:pPr indent="-311150" lvl="0" marL="457200" rtl="0" algn="l">
              <a:lnSpc>
                <a:spcPct val="100000"/>
              </a:lnSpc>
              <a:spcBef>
                <a:spcPts val="0"/>
              </a:spcBef>
              <a:spcAft>
                <a:spcPts val="0"/>
              </a:spcAft>
              <a:buSzPts val="1300"/>
              <a:buChar char="●"/>
            </a:pPr>
            <a:r>
              <a:rPr lang="en-GB"/>
              <a:t>The six-week timeframe was restrictive, indicating that substantial further work is needed</a:t>
            </a:r>
            <a:endParaRPr/>
          </a:p>
          <a:p>
            <a:pPr indent="0" lvl="0" marL="457200" rtl="0" algn="l">
              <a:lnSpc>
                <a:spcPct val="100000"/>
              </a:lnSpc>
              <a:spcBef>
                <a:spcPts val="0"/>
              </a:spcBef>
              <a:spcAft>
                <a:spcPts val="0"/>
              </a:spcAft>
              <a:buNone/>
            </a:pPr>
            <a:r>
              <a:t/>
            </a:r>
            <a:endParaRPr/>
          </a:p>
          <a:p>
            <a:pPr indent="-311150" lvl="0" marL="457200" rtl="0" algn="l">
              <a:lnSpc>
                <a:spcPct val="100000"/>
              </a:lnSpc>
              <a:spcBef>
                <a:spcPts val="0"/>
              </a:spcBef>
              <a:spcAft>
                <a:spcPts val="0"/>
              </a:spcAft>
              <a:buSzPts val="1300"/>
              <a:buChar char="●"/>
            </a:pPr>
            <a:r>
              <a:rPr lang="en-GB"/>
              <a:t>More work is required to improve performance, refine capabilities, and prepare the system for production</a:t>
            </a:r>
            <a:endParaRPr/>
          </a:p>
          <a:p>
            <a:pPr indent="0" lvl="0" marL="457200" rtl="0" algn="l">
              <a:lnSpc>
                <a:spcPct val="100000"/>
              </a:lnSpc>
              <a:spcBef>
                <a:spcPts val="0"/>
              </a:spcBef>
              <a:spcAft>
                <a:spcPts val="0"/>
              </a:spcAft>
              <a:buNone/>
            </a:pPr>
            <a:r>
              <a:t/>
            </a:r>
            <a:endParaRPr/>
          </a:p>
        </p:txBody>
      </p:sp>
      <p:sp>
        <p:nvSpPr>
          <p:cNvPr id="525" name="Google Shape;525;p5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526" name="Google Shape;526;p57"/>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0" name="Shape 530"/>
        <p:cNvGrpSpPr/>
        <p:nvPr/>
      </p:nvGrpSpPr>
      <p:grpSpPr>
        <a:xfrm>
          <a:off x="0" y="0"/>
          <a:ext cx="0" cy="0"/>
          <a:chOff x="0" y="0"/>
          <a:chExt cx="0" cy="0"/>
        </a:xfrm>
      </p:grpSpPr>
      <p:sp>
        <p:nvSpPr>
          <p:cNvPr id="531" name="Google Shape;531;p5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Future Directions: Expand Data &amp; Scope</a:t>
            </a:r>
            <a:endParaRPr/>
          </a:p>
        </p:txBody>
      </p:sp>
      <p:sp>
        <p:nvSpPr>
          <p:cNvPr id="532" name="Google Shape;532;p5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lnSpc>
                <a:spcPct val="100000"/>
              </a:lnSpc>
              <a:spcBef>
                <a:spcPts val="0"/>
              </a:spcBef>
              <a:spcAft>
                <a:spcPts val="0"/>
              </a:spcAft>
              <a:buSzPts val="1300"/>
              <a:buChar char="●"/>
            </a:pPr>
            <a:r>
              <a:rPr lang="en-GB"/>
              <a:t>Broader bank coverage</a:t>
            </a:r>
            <a:endParaRPr/>
          </a:p>
          <a:p>
            <a:pPr indent="0" lvl="0" marL="0" rtl="0" algn="l">
              <a:lnSpc>
                <a:spcPct val="100000"/>
              </a:lnSpc>
              <a:spcBef>
                <a:spcPts val="0"/>
              </a:spcBef>
              <a:spcAft>
                <a:spcPts val="0"/>
              </a:spcAft>
              <a:buNone/>
            </a:pPr>
            <a:r>
              <a:t/>
            </a:r>
            <a:endParaRPr/>
          </a:p>
          <a:p>
            <a:pPr indent="-311150" lvl="0" marL="457200" rtl="0" algn="l">
              <a:lnSpc>
                <a:spcPct val="100000"/>
              </a:lnSpc>
              <a:spcBef>
                <a:spcPts val="0"/>
              </a:spcBef>
              <a:spcAft>
                <a:spcPts val="0"/>
              </a:spcAft>
              <a:buSzPts val="1300"/>
              <a:buChar char="●"/>
            </a:pPr>
            <a:r>
              <a:rPr lang="en-GB"/>
              <a:t>Extend time horizon</a:t>
            </a:r>
            <a:endParaRPr/>
          </a:p>
          <a:p>
            <a:pPr indent="0" lvl="0" marL="0" rtl="0" algn="l">
              <a:lnSpc>
                <a:spcPct val="100000"/>
              </a:lnSpc>
              <a:spcBef>
                <a:spcPts val="0"/>
              </a:spcBef>
              <a:spcAft>
                <a:spcPts val="0"/>
              </a:spcAft>
              <a:buNone/>
            </a:pPr>
            <a:r>
              <a:t/>
            </a:r>
            <a:endParaRPr/>
          </a:p>
          <a:p>
            <a:pPr indent="-311150" lvl="0" marL="457200" rtl="0" algn="l">
              <a:lnSpc>
                <a:spcPct val="100000"/>
              </a:lnSpc>
              <a:spcBef>
                <a:spcPts val="0"/>
              </a:spcBef>
              <a:spcAft>
                <a:spcPts val="0"/>
              </a:spcAft>
              <a:buSzPts val="1300"/>
              <a:buChar char="●"/>
            </a:pPr>
            <a:r>
              <a:rPr lang="en-GB"/>
              <a:t>Additional public disclosures (Investor day presentations, 10-K, etc)</a:t>
            </a:r>
            <a:endParaRPr/>
          </a:p>
          <a:p>
            <a:pPr indent="0" lvl="0" marL="457200" rtl="0" algn="l">
              <a:lnSpc>
                <a:spcPct val="100000"/>
              </a:lnSpc>
              <a:spcBef>
                <a:spcPts val="0"/>
              </a:spcBef>
              <a:spcAft>
                <a:spcPts val="0"/>
              </a:spcAft>
              <a:buNone/>
            </a:pPr>
            <a:r>
              <a:t/>
            </a:r>
            <a:endParaRPr/>
          </a:p>
          <a:p>
            <a:pPr indent="-311150" lvl="0" marL="457200" rtl="0" algn="l">
              <a:lnSpc>
                <a:spcPct val="100000"/>
              </a:lnSpc>
              <a:spcBef>
                <a:spcPts val="0"/>
              </a:spcBef>
              <a:spcAft>
                <a:spcPts val="0"/>
              </a:spcAft>
              <a:buSzPts val="1300"/>
              <a:buChar char="●"/>
            </a:pPr>
            <a:r>
              <a:rPr lang="en-GB"/>
              <a:t>Extend out to different data types (numerical, image, video data)</a:t>
            </a:r>
            <a:endParaRPr/>
          </a:p>
        </p:txBody>
      </p:sp>
      <p:sp>
        <p:nvSpPr>
          <p:cNvPr id="533" name="Google Shape;533;p5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534" name="Google Shape;534;p58"/>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8" name="Shape 538"/>
        <p:cNvGrpSpPr/>
        <p:nvPr/>
      </p:nvGrpSpPr>
      <p:grpSpPr>
        <a:xfrm>
          <a:off x="0" y="0"/>
          <a:ext cx="0" cy="0"/>
          <a:chOff x="0" y="0"/>
          <a:chExt cx="0" cy="0"/>
        </a:xfrm>
      </p:grpSpPr>
      <p:sp>
        <p:nvSpPr>
          <p:cNvPr id="539" name="Google Shape;539;p5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Future Directions: Improve Model, Pipeline &amp; Validation</a:t>
            </a:r>
            <a:endParaRPr/>
          </a:p>
        </p:txBody>
      </p:sp>
      <p:sp>
        <p:nvSpPr>
          <p:cNvPr id="540" name="Google Shape;540;p59"/>
          <p:cNvSpPr txBox="1"/>
          <p:nvPr>
            <p:ph idx="1" type="body"/>
          </p:nvPr>
        </p:nvSpPr>
        <p:spPr>
          <a:xfrm>
            <a:off x="727650" y="2201075"/>
            <a:ext cx="7688700" cy="2261100"/>
          </a:xfrm>
          <a:prstGeom prst="rect">
            <a:avLst/>
          </a:prstGeom>
        </p:spPr>
        <p:txBody>
          <a:bodyPr anchorCtr="0" anchor="t" bIns="91425" lIns="91425" spcFirstLastPara="1" rIns="91425" wrap="square" tIns="91425">
            <a:normAutofit/>
          </a:bodyPr>
          <a:lstStyle/>
          <a:p>
            <a:pPr indent="-311150" lvl="0" marL="457200" rtl="0" algn="l">
              <a:lnSpc>
                <a:spcPct val="100000"/>
              </a:lnSpc>
              <a:spcBef>
                <a:spcPts val="0"/>
              </a:spcBef>
              <a:spcAft>
                <a:spcPts val="0"/>
              </a:spcAft>
              <a:buSzPts val="1300"/>
              <a:buChar char="●"/>
            </a:pPr>
            <a:r>
              <a:rPr lang="en-GB"/>
              <a:t>Human in the loop (HITL)</a:t>
            </a:r>
            <a:endParaRPr/>
          </a:p>
          <a:p>
            <a:pPr indent="0" lvl="0" marL="457200" rtl="0" algn="l">
              <a:lnSpc>
                <a:spcPct val="100000"/>
              </a:lnSpc>
              <a:spcBef>
                <a:spcPts val="0"/>
              </a:spcBef>
              <a:spcAft>
                <a:spcPts val="0"/>
              </a:spcAft>
              <a:buNone/>
            </a:pPr>
            <a:r>
              <a:t/>
            </a:r>
            <a:endParaRPr/>
          </a:p>
          <a:p>
            <a:pPr indent="-311150" lvl="0" marL="457200" rtl="0" algn="l">
              <a:lnSpc>
                <a:spcPct val="100000"/>
              </a:lnSpc>
              <a:spcBef>
                <a:spcPts val="0"/>
              </a:spcBef>
              <a:spcAft>
                <a:spcPts val="0"/>
              </a:spcAft>
              <a:buSzPts val="1300"/>
              <a:buChar char="●"/>
            </a:pPr>
            <a:r>
              <a:rPr lang="en-GB"/>
              <a:t>LLM validation to improve</a:t>
            </a:r>
            <a:endParaRPr/>
          </a:p>
          <a:p>
            <a:pPr indent="0" lvl="0" marL="457200" rtl="0" algn="l">
              <a:lnSpc>
                <a:spcPct val="100000"/>
              </a:lnSpc>
              <a:spcBef>
                <a:spcPts val="0"/>
              </a:spcBef>
              <a:spcAft>
                <a:spcPts val="0"/>
              </a:spcAft>
              <a:buNone/>
            </a:pPr>
            <a:r>
              <a:t/>
            </a:r>
            <a:endParaRPr/>
          </a:p>
          <a:p>
            <a:pPr indent="-311150" lvl="0" marL="457200" rtl="0" algn="l">
              <a:lnSpc>
                <a:spcPct val="100000"/>
              </a:lnSpc>
              <a:spcBef>
                <a:spcPts val="0"/>
              </a:spcBef>
              <a:spcAft>
                <a:spcPts val="0"/>
              </a:spcAft>
              <a:buSzPts val="1300"/>
              <a:buChar char="●"/>
            </a:pPr>
            <a:r>
              <a:rPr lang="en-GB"/>
              <a:t>Continue fine-tuning existing models </a:t>
            </a:r>
            <a:endParaRPr/>
          </a:p>
          <a:p>
            <a:pPr indent="0" lvl="0" marL="457200" rtl="0" algn="l">
              <a:lnSpc>
                <a:spcPct val="100000"/>
              </a:lnSpc>
              <a:spcBef>
                <a:spcPts val="0"/>
              </a:spcBef>
              <a:spcAft>
                <a:spcPts val="0"/>
              </a:spcAft>
              <a:buNone/>
            </a:pPr>
            <a:r>
              <a:t/>
            </a:r>
            <a:endParaRPr/>
          </a:p>
          <a:p>
            <a:pPr indent="-311150" lvl="0" marL="457200" rtl="0" algn="l">
              <a:lnSpc>
                <a:spcPct val="100000"/>
              </a:lnSpc>
              <a:spcBef>
                <a:spcPts val="0"/>
              </a:spcBef>
              <a:spcAft>
                <a:spcPts val="0"/>
              </a:spcAft>
              <a:buSzPts val="1300"/>
              <a:buChar char="●"/>
            </a:pPr>
            <a:r>
              <a:rPr lang="en-GB"/>
              <a:t>Topic Modelling - Tag Models by risk level and forward feed these downstream for more comprehensive predictions</a:t>
            </a:r>
            <a:endParaRPr/>
          </a:p>
        </p:txBody>
      </p:sp>
      <p:sp>
        <p:nvSpPr>
          <p:cNvPr id="541" name="Google Shape;541;p5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542" name="Google Shape;542;p59"/>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6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Future Directions: Bigger Picture</a:t>
            </a:r>
            <a:endParaRPr/>
          </a:p>
        </p:txBody>
      </p:sp>
      <p:sp>
        <p:nvSpPr>
          <p:cNvPr id="548" name="Google Shape;548;p6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Add Interface / Output for predicted insights and alerts</a:t>
            </a:r>
            <a:endParaRPr/>
          </a:p>
          <a:p>
            <a:pPr indent="0" lvl="0" marL="0" rtl="0" algn="l">
              <a:spcBef>
                <a:spcPts val="0"/>
              </a:spcBef>
              <a:spcAft>
                <a:spcPts val="0"/>
              </a:spcAft>
              <a:buNone/>
            </a:pPr>
            <a:r>
              <a:t/>
            </a:r>
            <a:endParaRPr/>
          </a:p>
          <a:p>
            <a:pPr indent="-311150" lvl="0" marL="457200" rtl="0" algn="l">
              <a:spcBef>
                <a:spcPts val="0"/>
              </a:spcBef>
              <a:spcAft>
                <a:spcPts val="0"/>
              </a:spcAft>
              <a:buSzPts val="1300"/>
              <a:buChar char="●"/>
            </a:pPr>
            <a:r>
              <a:rPr lang="en-GB"/>
              <a:t>Digital Twin and Business Operational Environment (BOE) system</a:t>
            </a:r>
            <a:endParaRPr/>
          </a:p>
          <a:p>
            <a:pPr indent="0" lvl="0" marL="0" rtl="0" algn="l">
              <a:spcBef>
                <a:spcPts val="0"/>
              </a:spcBef>
              <a:spcAft>
                <a:spcPts val="0"/>
              </a:spcAft>
              <a:buNone/>
            </a:pPr>
            <a:r>
              <a:t/>
            </a:r>
            <a:endParaRPr/>
          </a:p>
        </p:txBody>
      </p:sp>
      <p:sp>
        <p:nvSpPr>
          <p:cNvPr id="549" name="Google Shape;549;p6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550" name="Google Shape;550;p60"/>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6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556" name="Google Shape;556;p61"/>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
        <p:nvSpPr>
          <p:cNvPr id="557" name="Google Shape;557;p61"/>
          <p:cNvSpPr txBox="1"/>
          <p:nvPr>
            <p:ph type="title"/>
          </p:nvPr>
        </p:nvSpPr>
        <p:spPr>
          <a:xfrm>
            <a:off x="0" y="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1740"/>
              <a:t>Digital Twin and Business Operational Environment (BOE) system likely Predictive analytics and risk management</a:t>
            </a:r>
            <a:endParaRPr sz="1740"/>
          </a:p>
        </p:txBody>
      </p:sp>
      <p:pic>
        <p:nvPicPr>
          <p:cNvPr id="558" name="Google Shape;558;p61" title="Digital Twin BOE - Page 1 (4).png"/>
          <p:cNvPicPr preferRelativeResize="0"/>
          <p:nvPr/>
        </p:nvPicPr>
        <p:blipFill>
          <a:blip r:embed="rId3">
            <a:alphaModFix/>
          </a:blip>
          <a:stretch>
            <a:fillRect/>
          </a:stretch>
        </p:blipFill>
        <p:spPr>
          <a:xfrm>
            <a:off x="152400" y="687600"/>
            <a:ext cx="8204278" cy="3909851"/>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62"/>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Q&amp;A</a:t>
            </a:r>
            <a:endParaRPr/>
          </a:p>
          <a:p>
            <a:pPr indent="0" lvl="0" marL="0" rtl="0" algn="l">
              <a:spcBef>
                <a:spcPts val="0"/>
              </a:spcBef>
              <a:spcAft>
                <a:spcPts val="0"/>
              </a:spcAft>
              <a:buNone/>
            </a:pPr>
            <a:r>
              <a:rPr lang="en-GB" sz="2000"/>
              <a:t>Thank you for listening. We welcome any questions</a:t>
            </a:r>
            <a:endParaRPr sz="2000"/>
          </a:p>
        </p:txBody>
      </p:sp>
      <p:sp>
        <p:nvSpPr>
          <p:cNvPr id="564" name="Google Shape;564;p6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565" name="Google Shape;565;p62"/>
          <p:cNvSpPr txBox="1"/>
          <p:nvPr/>
        </p:nvSpPr>
        <p:spPr>
          <a:xfrm>
            <a:off x="46025" y="4809400"/>
            <a:ext cx="7688100" cy="274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040">
                <a:solidFill>
                  <a:srgbClr val="595959"/>
                </a:solidFill>
                <a:latin typeface="Lato"/>
                <a:ea typeface="Lato"/>
                <a:cs typeface="Lato"/>
                <a:sym typeface="Lato"/>
              </a:rPr>
              <a:t>03.07.2025 | Cambridge Institute Continued Education | Data Science with Machine Learning &amp; AI Career Accelerator </a:t>
            </a:r>
            <a:endParaRPr sz="1040">
              <a:solidFill>
                <a:srgbClr val="595959"/>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